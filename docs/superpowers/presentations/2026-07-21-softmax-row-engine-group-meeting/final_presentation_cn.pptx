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今天汇报的是Softmax加速架构从旧的distributed-column路径，到Row Engine和单tensor job路径的完整进展。重点不是单一cycle数字，而是为什么架构变化能够把控制、reduction和DMA开销系统性消除。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旧方案功能正确，但把4096维的一行拆给16个worker，必须进行global max和global sum两次归约。1024行最终产生65536个reduction request、4096个job和大量小DMA。这里要强调：当时NoC利用率并不高，所以根因不是链路不够快，而是并行组织方式错误。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这页给出主线：初始whole-system约1664万cycle；Row Engine v2降到113.7万；单tensor controller进一步到59.8万，整体约27.8倍。最终硬件任务路径是66062cycle。clean instrumentation版本会增加诊断输出，因此whole-system不放进这张对比图。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coordinator只提交一个128-byte descriptor和一个versioned params block。controller按band将1024行分到16个tile，每个tile处理64行。对4096维而言，一行完整放在一个tile内，因此max和sum都在tile内部完成，NoC上不再发送reduction消息。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每个SFU内部不再是一个monolithic softmax操作槽，而是把vector ALU、reduction tree、EXP pipeline、reciprocal和DMA分别保留free cycle。仿真采用事件驱动的stage completion，而不是每元素每周期发一个SST event，这同时改善架构表达和simulation time。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稳定Softmax需要先求max，再计算exp和sum，再normalize，因此三次数学pass不能简单消失。优化点是把一整行保留在16KiB scratchpad：EXP阶段原地覆盖输入并同时累加sum，normalize直接读取本地EXP结果，最终只保留一次输入和一次输出HBM流量。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单行依然需要MAX、EXP和normalize，但多个row可以重叠。四个context正好覆盖不同阶段和DMA等待。新统计显示1024点三个阶段active cycles之和是98304，而时间跨度是66048，重叠节省32256，也就是32.8%。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四个data HBM node与mesh四列对齐。实际实现采用连续tile-band布局：每64行一个band，band轮转到四个节点。这样既保持每个tile访问连续，又让四个backend分担32MiB的不可消除流量。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guest只负责构造descriptor和params并发出一次job。controller发送16个band dispatch，每个endpoint内部完成DMA和计算。只有最后一个output DMA ACK到达后，controller才聚合完成并让guest wait返回。这个机制替代了固定store drain和高频poll推进。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测试不是只看输出数值。每个点都要求全量logits golden、行数和job数一致、band/worker/completion事件数量匹配、DMA ACK完整、retry和stale为零。周期同时保留SST时序和guest rdcycle，避免把本地wall time或picosecond tick误称为硬件cycle。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这一页适合重点讲。第一，4到16 workers并没有加速16×4096。第二，64KiB burst降低了stall总数，但issue-to-completion反而变差。第三，poll从105万降到0后周期完全不变。这三组负结果共同证明，真正需要的是tensor controller和row-level mapping。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descriptor接受后，第一worker dispatch只需11cycle，所有output ACK在17565cycle到达，completion再晚47cycle。但modeled compute ready是66062cycle。因此当前配置下DMA和NoC已经被计算模型隐藏，主瓶颈转到EXP阶段。clean guest在descriptor前还有6398cycle，主要是helper进入和descriptor构造。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这里固定16个物理SFU、4 contexts、4个HBM节点、256KiB burst和2.3GHz，只改变行数。accelerator observed分别是1550、4622、16910和66062；与modeled值始终只差1cycle。说明周期模型和实际完成边界一致，1024点没有额外的非线性拖慢。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这页要保守表达。GPU数据来自已有1024×4096测试，TileLang p50约115718 nominal cycles，PyTorch约207911。Golem accelerator和clean kernel分别是66062和72409。但GPU是按标称SM频率从微秒换算，Golem是SST事件和rdcycle窗口，不能据此宣称真实芯片更快。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独立stage统计表明EXP+SUM的active cycles是另外两个阶段的4倍。将exp lanes从4提高到16后，模型预计从66061降到约16909cycle。此时当前17565cycle的DMA ACK路径会成为下一瓶颈，因此优化顺序应是先真实建模EXP latency和II，再做streaming normalize和output DMA。16900是估算，不能当成已经完成的实验结果。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总结四点：架构上完成单tensor job和16 Row Engines；数据流上只保留输入输出两次HBM访问；测试上全量golden和生命周期通过；性能上accelerator 66062、clean kernel 72409。下一阶段不是盲目DSE，而是实现可信的16-wide EXP pipeline和独立reduction datapath。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7132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087E8B"/>
                </a:solidFill>
                <a:latin typeface="Aptos"/>
              </a:defRPr>
            </a:pPr>
            <a:r>
              <a:t>GROUP MEETING · 2026.07.21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694944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3500" b="1">
                <a:solidFill>
                  <a:srgbClr val="1D252C"/>
                </a:solidFill>
                <a:latin typeface="Noto Sans CJK SC"/>
              </a:defRPr>
            </a:pPr>
            <a:r>
              <a:t>面向 NoC Manycore 的</a:t>
            </a:r>
          </a:p>
          <a:p>
            <a:pPr algn="l">
              <a:lnSpc>
                <a:spcPct val="100000"/>
              </a:lnSpc>
              <a:defRPr sz="3500" b="1">
                <a:solidFill>
                  <a:srgbClr val="1D252C"/>
                </a:solidFill>
                <a:latin typeface="Noto Sans CJK SC"/>
              </a:defRPr>
            </a:pPr>
            <a:r>
              <a:t>Softmax Row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487168"/>
            <a:ext cx="6217920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700" b="0">
                <a:solidFill>
                  <a:srgbClr val="637078"/>
                </a:solidFill>
                <a:latin typeface="Noto Sans CJK SC"/>
              </a:defRPr>
            </a:pPr>
            <a:r>
              <a:t>从显式 NoC reduction 到单 tensor job、</a:t>
            </a:r>
          </a:p>
          <a:p>
            <a:pPr algn="l">
              <a:lnSpc>
                <a:spcPct val="100000"/>
              </a:lnSpc>
              <a:defRPr sz="1700" b="0">
                <a:solidFill>
                  <a:srgbClr val="637078"/>
                </a:solidFill>
                <a:latin typeface="Noto Sans CJK SC"/>
              </a:defRPr>
            </a:pPr>
            <a:r>
              <a:t>行级并行与四上下文流水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888736"/>
            <a:ext cx="53035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D252C"/>
                </a:solidFill>
                <a:latin typeface="Aptos"/>
              </a:defRPr>
            </a:pPr>
            <a:r>
              <a:t>RISC-V · Vanadis · SST · Golem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658368"/>
            <a:ext cx="3858768" cy="5349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75320" y="1005840"/>
            <a:ext cx="2578608" cy="658368"/>
          </a:xfrm>
          <a:prstGeom prst="roundRect">
            <a:avLst/>
          </a:prstGeom>
          <a:solidFill>
            <a:srgbClr val="DDEFF0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75320" y="1005840"/>
            <a:ext cx="64008" cy="65836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1115568"/>
            <a:ext cx="2286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1D252C"/>
                </a:solidFill>
                <a:latin typeface="Noto Sans CJK SC"/>
              </a:defRPr>
            </a:pPr>
            <a:r>
              <a:t>1 Tensor 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1481328"/>
            <a:ext cx="2286000" cy="914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637078"/>
                </a:solidFill>
                <a:latin typeface="Noto Sans CJK SC"/>
              </a:defRPr>
            </a:pPr>
            <a:r>
              <a:t>hardware row scheduling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45168" y="1764792"/>
            <a:ext cx="475488" cy="219456"/>
          </a:xfrm>
          <a:prstGeom prst="rightArrow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65008" y="2212848"/>
            <a:ext cx="530352" cy="448056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2322576"/>
            <a:ext cx="5303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1D252C"/>
                </a:solidFill>
                <a:latin typeface="Aptos"/>
              </a:defRPr>
            </a:pPr>
            <a:r>
              <a:t>T0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212848"/>
            <a:ext cx="530352" cy="448056"/>
          </a:xfrm>
          <a:prstGeom prst="roundRect">
            <a:avLst/>
          </a:prstGeom>
          <a:solidFill>
            <a:srgbClr val="DDEFF0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2322576"/>
            <a:ext cx="5303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1D252C"/>
                </a:solidFill>
                <a:latin typeface="Aptos"/>
              </a:defRPr>
            </a:pPr>
            <a:r>
              <a:t>T1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91472" y="2212848"/>
            <a:ext cx="530352" cy="448056"/>
          </a:xfrm>
          <a:prstGeom prst="roundRect">
            <a:avLst/>
          </a:prstGeom>
          <a:solidFill>
            <a:srgbClr val="E2F0E9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91472" y="2322576"/>
            <a:ext cx="5303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1D252C"/>
                </a:solidFill>
                <a:latin typeface="Aptos"/>
              </a:defRPr>
            </a:pPr>
            <a:r>
              <a:t>T2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04704" y="2212848"/>
            <a:ext cx="530352" cy="448056"/>
          </a:xfrm>
          <a:prstGeom prst="roundRect">
            <a:avLst/>
          </a:prstGeom>
          <a:solidFill>
            <a:srgbClr val="F7ECD1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04704" y="2322576"/>
            <a:ext cx="5303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1D252C"/>
                </a:solidFill>
                <a:latin typeface="Aptos"/>
              </a:defRPr>
            </a:pPr>
            <a:r>
              <a:t>T3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2852928"/>
            <a:ext cx="530352" cy="448056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5008" y="2962656"/>
            <a:ext cx="5303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1D252C"/>
                </a:solidFill>
                <a:latin typeface="Aptos"/>
              </a:defRPr>
            </a:pPr>
            <a:r>
              <a:t>T4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2852928"/>
            <a:ext cx="530352" cy="448056"/>
          </a:xfrm>
          <a:prstGeom prst="roundRect">
            <a:avLst/>
          </a:prstGeom>
          <a:solidFill>
            <a:srgbClr val="DDEFF0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2962656"/>
            <a:ext cx="5303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1D252C"/>
                </a:solidFill>
                <a:latin typeface="Aptos"/>
              </a:defRPr>
            </a:pPr>
            <a:r>
              <a:t>T5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91472" y="2852928"/>
            <a:ext cx="530352" cy="448056"/>
          </a:xfrm>
          <a:prstGeom prst="roundRect">
            <a:avLst/>
          </a:prstGeom>
          <a:solidFill>
            <a:srgbClr val="E2F0E9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91472" y="2962656"/>
            <a:ext cx="5303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1D252C"/>
                </a:solidFill>
                <a:latin typeface="Aptos"/>
              </a:defRPr>
            </a:pPr>
            <a:r>
              <a:t>T6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04704" y="2852928"/>
            <a:ext cx="530352" cy="448056"/>
          </a:xfrm>
          <a:prstGeom prst="roundRect">
            <a:avLst/>
          </a:prstGeom>
          <a:solidFill>
            <a:srgbClr val="F7ECD1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04704" y="2962656"/>
            <a:ext cx="5303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1D252C"/>
                </a:solidFill>
                <a:latin typeface="Aptos"/>
              </a:defRPr>
            </a:pPr>
            <a:r>
              <a:t>T7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5008" y="3493008"/>
            <a:ext cx="530352" cy="448056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65008" y="3602736"/>
            <a:ext cx="5303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1D252C"/>
                </a:solidFill>
                <a:latin typeface="Aptos"/>
              </a:defRPr>
            </a:pPr>
            <a:r>
              <a:t>T8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78240" y="3493008"/>
            <a:ext cx="530352" cy="448056"/>
          </a:xfrm>
          <a:prstGeom prst="roundRect">
            <a:avLst/>
          </a:prstGeom>
          <a:solidFill>
            <a:srgbClr val="DDEFF0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3602736"/>
            <a:ext cx="5303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1D252C"/>
                </a:solidFill>
                <a:latin typeface="Aptos"/>
              </a:defRPr>
            </a:pPr>
            <a:r>
              <a:t>T9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91472" y="3493008"/>
            <a:ext cx="530352" cy="448056"/>
          </a:xfrm>
          <a:prstGeom prst="roundRect">
            <a:avLst/>
          </a:prstGeom>
          <a:solidFill>
            <a:srgbClr val="E2F0E9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91472" y="3602736"/>
            <a:ext cx="5303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1D252C"/>
                </a:solidFill>
                <a:latin typeface="Aptos"/>
              </a:defRPr>
            </a:pPr>
            <a:r>
              <a:t>T10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04704" y="3493008"/>
            <a:ext cx="530352" cy="448056"/>
          </a:xfrm>
          <a:prstGeom prst="roundRect">
            <a:avLst/>
          </a:prstGeom>
          <a:solidFill>
            <a:srgbClr val="F7ECD1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04704" y="3602736"/>
            <a:ext cx="5303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1D252C"/>
                </a:solidFill>
                <a:latin typeface="Aptos"/>
              </a:defRPr>
            </a:pPr>
            <a:r>
              <a:t>T11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65008" y="4133087"/>
            <a:ext cx="530352" cy="448056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65008" y="4242816"/>
            <a:ext cx="5303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1D252C"/>
                </a:solidFill>
                <a:latin typeface="Aptos"/>
              </a:defRPr>
            </a:pPr>
            <a:r>
              <a:t>T12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8240" y="4133087"/>
            <a:ext cx="530352" cy="448056"/>
          </a:xfrm>
          <a:prstGeom prst="roundRect">
            <a:avLst/>
          </a:prstGeom>
          <a:solidFill>
            <a:srgbClr val="DDEFF0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0" y="4242816"/>
            <a:ext cx="5303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1D252C"/>
                </a:solidFill>
                <a:latin typeface="Aptos"/>
              </a:defRPr>
            </a:pPr>
            <a:r>
              <a:t>T13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91472" y="4133087"/>
            <a:ext cx="530352" cy="448056"/>
          </a:xfrm>
          <a:prstGeom prst="roundRect">
            <a:avLst/>
          </a:prstGeom>
          <a:solidFill>
            <a:srgbClr val="E2F0E9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91472" y="4242816"/>
            <a:ext cx="5303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1D252C"/>
                </a:solidFill>
                <a:latin typeface="Aptos"/>
              </a:defRPr>
            </a:pPr>
            <a:r>
              <a:t>T14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04704" y="4133087"/>
            <a:ext cx="530352" cy="448056"/>
          </a:xfrm>
          <a:prstGeom prst="roundRect">
            <a:avLst/>
          </a:prstGeom>
          <a:solidFill>
            <a:srgbClr val="F7ECD1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04704" y="4242816"/>
            <a:ext cx="5303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1D252C"/>
                </a:solidFill>
                <a:latin typeface="Aptos"/>
              </a:defRPr>
            </a:pPr>
            <a:r>
              <a:t>T15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37575" y="5047488"/>
            <a:ext cx="585216" cy="438912"/>
          </a:xfrm>
          <a:prstGeom prst="roundRect">
            <a:avLst/>
          </a:prstGeom>
          <a:solidFill>
            <a:srgbClr val="4C78A8"/>
          </a:solidFill>
          <a:ln w="10160">
            <a:solidFill>
              <a:srgbClr val="4C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37575" y="5166360"/>
            <a:ext cx="58521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FFFFFF"/>
                </a:solidFill>
                <a:latin typeface="Aptos"/>
              </a:defRPr>
            </a:pPr>
            <a:r>
              <a:t>HBM0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50807" y="5047488"/>
            <a:ext cx="585216" cy="438912"/>
          </a:xfrm>
          <a:prstGeom prst="round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50807" y="5166360"/>
            <a:ext cx="58521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FFFFFF"/>
                </a:solidFill>
                <a:latin typeface="Aptos"/>
              </a:defRPr>
            </a:pPr>
            <a:r>
              <a:t>HBM1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64040" y="5047488"/>
            <a:ext cx="585216" cy="438912"/>
          </a:xfrm>
          <a:prstGeom prst="roundRect">
            <a:avLst/>
          </a:prstGeom>
          <a:solidFill>
            <a:srgbClr val="3D8B66"/>
          </a:solidFill>
          <a:ln w="10160">
            <a:solidFill>
              <a:srgbClr val="3D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64040" y="5166360"/>
            <a:ext cx="58521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FFFFFF"/>
                </a:solidFill>
                <a:latin typeface="Aptos"/>
              </a:defRPr>
            </a:pPr>
            <a:r>
              <a:t>HBM2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77272" y="5047488"/>
            <a:ext cx="585216" cy="438912"/>
          </a:xfrm>
          <a:prstGeom prst="roundRect">
            <a:avLst/>
          </a:prstGeom>
          <a:solidFill>
            <a:srgbClr val="D99A22"/>
          </a:solidFill>
          <a:ln w="10160">
            <a:solidFill>
              <a:srgbClr val="D9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77272" y="5166360"/>
            <a:ext cx="58521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FFFFFF"/>
                </a:solidFill>
                <a:latin typeface="Aptos"/>
              </a:defRPr>
            </a:pPr>
            <a:r>
              <a:t>HBM3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01583" y="5605272"/>
            <a:ext cx="30175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1">
                <a:solidFill>
                  <a:srgbClr val="637078"/>
                </a:solidFill>
                <a:latin typeface="Aptos"/>
              </a:defRPr>
            </a:pPr>
            <a:r>
              <a:t>16 Row Engines · 4 HBM Nodes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539728" y="6675120"/>
            <a:ext cx="109728" cy="2743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850" b="1">
                <a:solidFill>
                  <a:srgbClr val="087E8B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1D252C"/>
                </a:solidFill>
                <a:latin typeface="Noto Sans CJK SC"/>
              </a:defRPr>
            </a:pPr>
            <a:r>
              <a:t>旧方案把一行拆给16个worker，通信和控制随规模膨胀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47472"/>
            <a:ext cx="411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63707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34440"/>
            <a:ext cx="3017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D252C"/>
                </a:solidFill>
                <a:latin typeface="Noto Sans CJK SC"/>
              </a:defRPr>
            </a:pPr>
            <a:r>
              <a:t>旧 distributed-column 数据流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64208"/>
            <a:ext cx="2971800" cy="566928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2651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4C78A8"/>
                </a:solidFill>
                <a:latin typeface="Aptos"/>
              </a:defRPr>
            </a:pPr>
            <a:r>
              <a:t>1 row × 4096 columns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847088" y="2322576"/>
            <a:ext cx="438912" cy="219456"/>
          </a:xfrm>
          <a:prstGeom prst="rightArrow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6072" y="2761488"/>
            <a:ext cx="566928" cy="384048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2862072"/>
            <a:ext cx="56692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50" b="1">
                <a:solidFill>
                  <a:srgbClr val="1D252C"/>
                </a:solidFill>
                <a:latin typeface="Aptos"/>
              </a:defRPr>
            </a:pPr>
            <a:r>
              <a:t>W0-1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07592" y="2761488"/>
            <a:ext cx="566928" cy="384048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07592" y="2862072"/>
            <a:ext cx="56692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50" b="1">
                <a:solidFill>
                  <a:srgbClr val="1D252C"/>
                </a:solidFill>
                <a:latin typeface="Aptos"/>
              </a:defRPr>
            </a:pPr>
            <a:r>
              <a:t>W2-3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39112" y="2761488"/>
            <a:ext cx="566928" cy="384048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39112" y="2862072"/>
            <a:ext cx="56692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50" b="1">
                <a:solidFill>
                  <a:srgbClr val="1D252C"/>
                </a:solidFill>
                <a:latin typeface="Aptos"/>
              </a:defRPr>
            </a:pPr>
            <a:r>
              <a:t>W4-5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70632" y="2761488"/>
            <a:ext cx="566928" cy="384048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2862072"/>
            <a:ext cx="56692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50" b="1">
                <a:solidFill>
                  <a:srgbClr val="1D252C"/>
                </a:solidFill>
                <a:latin typeface="Aptos"/>
              </a:defRPr>
            </a:pPr>
            <a:r>
              <a:t>W6-7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" y="3310128"/>
            <a:ext cx="566928" cy="384048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410712"/>
            <a:ext cx="56692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50" b="1">
                <a:solidFill>
                  <a:srgbClr val="1D252C"/>
                </a:solidFill>
                <a:latin typeface="Aptos"/>
              </a:defRPr>
            </a:pPr>
            <a:r>
              <a:t>W8-9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07592" y="3310128"/>
            <a:ext cx="566928" cy="384048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07592" y="3410712"/>
            <a:ext cx="56692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50" b="1">
                <a:solidFill>
                  <a:srgbClr val="1D252C"/>
                </a:solidFill>
                <a:latin typeface="Aptos"/>
              </a:defRPr>
            </a:pPr>
            <a:r>
              <a:t>W10-11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39112" y="3310128"/>
            <a:ext cx="566928" cy="384048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39112" y="3410712"/>
            <a:ext cx="56692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50" b="1">
                <a:solidFill>
                  <a:srgbClr val="1D252C"/>
                </a:solidFill>
                <a:latin typeface="Aptos"/>
              </a:defRPr>
            </a:pPr>
            <a:r>
              <a:t>W12-13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70632" y="3310128"/>
            <a:ext cx="566928" cy="384048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0632" y="3410712"/>
            <a:ext cx="56692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50" b="1">
                <a:solidFill>
                  <a:srgbClr val="1D252C"/>
                </a:solidFill>
                <a:latin typeface="Aptos"/>
              </a:defRPr>
            </a:pPr>
            <a:r>
              <a:t>W14-15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847088" y="3959352"/>
            <a:ext cx="438912" cy="219456"/>
          </a:xfrm>
          <a:prstGeom prst="rightArrow">
            <a:avLst/>
          </a:prstGeom>
          <a:solidFill>
            <a:srgbClr val="C6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4407408"/>
            <a:ext cx="2761488" cy="685800"/>
          </a:xfrm>
          <a:prstGeom prst="roundRect">
            <a:avLst/>
          </a:prstGeom>
          <a:solidFill>
            <a:srgbClr val="F5E3E1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407408"/>
            <a:ext cx="64008" cy="685800"/>
          </a:xfrm>
          <a:prstGeom prst="rect">
            <a:avLst/>
          </a:prstGeom>
          <a:solidFill>
            <a:srgbClr val="C6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4517136"/>
            <a:ext cx="24688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D252C"/>
                </a:solidFill>
                <a:latin typeface="Noto Sans CJK SC"/>
              </a:defRPr>
            </a:pPr>
            <a:r>
              <a:t>MAX / SUM 两次全局归约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4882896"/>
            <a:ext cx="2468880" cy="118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37078"/>
                </a:solidFill>
                <a:latin typeface="Noto Sans CJK SC"/>
              </a:defRPr>
            </a:pPr>
            <a:r>
              <a:t>barrier + request/response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1847088" y="5193792"/>
            <a:ext cx="438912" cy="219456"/>
          </a:xfrm>
          <a:prstGeom prst="rightArrow">
            <a:avLst/>
          </a:prstGeom>
          <a:solidFill>
            <a:srgbClr val="C6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532120"/>
            <a:ext cx="276148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1D252C"/>
                </a:solidFill>
                <a:latin typeface="Noto Sans CJK SC"/>
              </a:defRPr>
            </a:pPr>
            <a:r>
              <a:t>Normalize 后再写回 HBM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41648" y="1316736"/>
            <a:ext cx="32918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41648" y="1316736"/>
            <a:ext cx="64008" cy="1051560"/>
          </a:xfrm>
          <a:prstGeom prst="rect">
            <a:avLst/>
          </a:prstGeom>
          <a:solidFill>
            <a:srgbClr val="C6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1426464"/>
            <a:ext cx="29992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1D252C"/>
                </a:solidFill>
                <a:latin typeface="Noto Sans CJK SC"/>
              </a:defRPr>
            </a:pPr>
            <a:r>
              <a:t>错误的并行层级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1792224"/>
            <a:ext cx="2999232" cy="48463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637078"/>
                </a:solidFill>
                <a:latin typeface="Noto Sans CJK SC"/>
              </a:defRPr>
            </a:pPr>
            <a:r>
              <a:t>同一行上的worker越多，fan-in、barrier和等待越重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41648" y="2633472"/>
            <a:ext cx="32918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41648" y="2633472"/>
            <a:ext cx="64008" cy="1051560"/>
          </a:xfrm>
          <a:prstGeom prst="rect">
            <a:avLst/>
          </a:prstGeom>
          <a:solidFill>
            <a:srgbClr val="D9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0" y="2743200"/>
            <a:ext cx="29992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1D252C"/>
                </a:solidFill>
                <a:latin typeface="Noto Sans CJK SC"/>
              </a:defRPr>
            </a:pPr>
            <a:r>
              <a:t>任务与DMA过细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3108960"/>
            <a:ext cx="2999232" cy="48463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637078"/>
                </a:solidFill>
                <a:latin typeface="Noto Sans CJK SC"/>
              </a:defRPr>
            </a:pPr>
            <a:r>
              <a:t>4,096 jobs；input/output各16,384次DMA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41648" y="3950208"/>
            <a:ext cx="32918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41648" y="3950208"/>
            <a:ext cx="64008" cy="1051560"/>
          </a:xfrm>
          <a:prstGeom prst="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0" y="4059936"/>
            <a:ext cx="29992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1D252C"/>
                </a:solidFill>
                <a:latin typeface="Noto Sans CJK SC"/>
              </a:defRPr>
            </a:pPr>
            <a:r>
              <a:t>仿真与硬件进度耦合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4425696"/>
            <a:ext cx="2999232" cy="48463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637078"/>
                </a:solidFill>
                <a:latin typeface="Noto Sans CJK SC"/>
              </a:defRPr>
            </a:pPr>
            <a:r>
              <a:t>wait polling推进状态，Vanadis退休指令显著增加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82127" y="1417320"/>
            <a:ext cx="32918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C6423E"/>
                </a:solidFill>
                <a:latin typeface="Aptos"/>
              </a:defRPr>
            </a:pPr>
            <a:r>
              <a:t>65,536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7" y="1865376"/>
            <a:ext cx="3291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637078"/>
                </a:solidFill>
                <a:latin typeface="Noto Sans CJK SC"/>
              </a:defRPr>
            </a:pPr>
            <a:r>
              <a:t>reduction request messages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82127" y="2578608"/>
            <a:ext cx="32918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4C78A8"/>
                </a:solidFill>
                <a:latin typeface="Aptos"/>
              </a:defRPr>
            </a:pPr>
            <a:r>
              <a:t>16.64 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2127" y="3026663"/>
            <a:ext cx="3291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637078"/>
                </a:solidFill>
                <a:latin typeface="Noto Sans CJK SC"/>
              </a:defRPr>
            </a:pPr>
            <a:r>
              <a:t>whole-system cycles @ 2.3 GHz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82127" y="3739896"/>
            <a:ext cx="32918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D99A22"/>
                </a:solidFill>
                <a:latin typeface="Aptos"/>
              </a:defRPr>
            </a:pPr>
            <a:r>
              <a:t>41.9 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82127" y="4187952"/>
            <a:ext cx="3291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637078"/>
                </a:solidFill>
                <a:latin typeface="Noto Sans CJK SC"/>
              </a:defRPr>
            </a:pPr>
            <a:r>
              <a:t>Vanadis retired instructions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6291072"/>
            <a:ext cx="11155680" cy="365760"/>
          </a:xfrm>
          <a:prstGeom prst="roundRect">
            <a:avLst/>
          </a:prstGeom>
          <a:solidFill>
            <a:srgbClr val="F5E3E1"/>
          </a:solidFill>
          <a:ln w="10160">
            <a:solidFill>
              <a:srgbClr val="F5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" y="6345936"/>
            <a:ext cx="108356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C6423E"/>
                </a:solidFill>
                <a:latin typeface="Noto Sans CJK SC"/>
              </a:defRPr>
            </a:pPr>
            <a:r>
              <a:t>核心问题不是 Softmax 数学本身，而是行/列映射、任务粒度和完成机制不匹配。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6675120"/>
            <a:ext cx="1088136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720" b="0">
                <a:solidFill>
                  <a:srgbClr val="637078"/>
                </a:solidFill>
                <a:latin typeface="Aptos"/>
              </a:defRPr>
            </a:pPr>
            <a:r>
              <a:t>Source: architecture design §2.2; retained 1024×4096 explicit-NoC capacity run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539728" y="6675120"/>
            <a:ext cx="109728" cy="2743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850" b="1">
                <a:solidFill>
                  <a:srgbClr val="087E8B"/>
                </a:solidFill>
                <a:latin typeface="Aptos"/>
              </a:defRPr>
            </a:pPr>
            <a:r>
              <a:t>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1D252C"/>
                </a:solidFill>
                <a:latin typeface="Noto Sans CJK SC"/>
              </a:defRPr>
            </a:pPr>
            <a:r>
              <a:t>三轮架构收敛将完整系统周期降低27.8×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47472"/>
            <a:ext cx="411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63707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44752"/>
            <a:ext cx="3246120" cy="39776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00784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C6423E"/>
                </a:solidFill>
                <a:latin typeface="Aptos"/>
              </a:defRPr>
            </a:pPr>
            <a:r>
              <a:t>Explicit-NoC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40280"/>
            <a:ext cx="28346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3100" b="1">
                <a:solidFill>
                  <a:srgbClr val="C6423E"/>
                </a:solidFill>
                <a:latin typeface="Aptos"/>
              </a:defRPr>
            </a:pPr>
            <a:r>
              <a:t>16.64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999232"/>
            <a:ext cx="283464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200" b="0">
                <a:solidFill>
                  <a:srgbClr val="1D252C"/>
                </a:solidFill>
                <a:latin typeface="Noto Sans CJK SC"/>
              </a:defRPr>
            </a:pPr>
            <a:r>
              <a:t>16 workers / row</a:t>
            </a:r>
          </a:p>
          <a:p>
            <a:pPr algn="ctr">
              <a:lnSpc>
                <a:spcPct val="100000"/>
              </a:lnSpc>
              <a:defRPr sz="1200" b="0">
                <a:solidFill>
                  <a:srgbClr val="1D252C"/>
                </a:solidFill>
                <a:latin typeface="Noto Sans CJK SC"/>
              </a:defRPr>
            </a:pPr>
            <a:r>
              <a:t>4,096 jobs</a:t>
            </a:r>
          </a:p>
          <a:p>
            <a:pPr algn="ctr">
              <a:lnSpc>
                <a:spcPct val="100000"/>
              </a:lnSpc>
              <a:defRPr sz="1200" b="0">
                <a:solidFill>
                  <a:srgbClr val="1D252C"/>
                </a:solidFill>
                <a:latin typeface="Noto Sans CJK SC"/>
              </a:defRPr>
            </a:pPr>
            <a:r>
              <a:t>65,536 reductions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05072" y="3044952"/>
            <a:ext cx="475488" cy="256032"/>
          </a:xfrm>
          <a:prstGeom prst="rightArrow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62272" y="1444752"/>
            <a:ext cx="3246120" cy="39776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00784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4C78A8"/>
                </a:solidFill>
                <a:latin typeface="Aptos"/>
              </a:defRPr>
            </a:pPr>
            <a:r>
              <a:t>Row Engine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40280"/>
            <a:ext cx="28346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3100" b="1">
                <a:solidFill>
                  <a:srgbClr val="4C78A8"/>
                </a:solidFill>
                <a:latin typeface="Aptos"/>
              </a:defRPr>
            </a:pPr>
            <a:r>
              <a:t>1.137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99232"/>
            <a:ext cx="283464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200" b="0">
                <a:solidFill>
                  <a:srgbClr val="1D252C"/>
                </a:solidFill>
                <a:latin typeface="Noto Sans CJK SC"/>
              </a:defRPr>
            </a:pPr>
            <a:r>
              <a:t>1 tile / row</a:t>
            </a:r>
          </a:p>
          <a:p>
            <a:pPr algn="ctr">
              <a:lnSpc>
                <a:spcPct val="100000"/>
              </a:lnSpc>
              <a:defRPr sz="1200" b="0">
                <a:solidFill>
                  <a:srgbClr val="1D252C"/>
                </a:solidFill>
                <a:latin typeface="Noto Sans CJK SC"/>
              </a:defRPr>
            </a:pPr>
            <a:r>
              <a:t>16 jobs</a:t>
            </a:r>
          </a:p>
          <a:p>
            <a:pPr algn="ctr">
              <a:lnSpc>
                <a:spcPct val="100000"/>
              </a:lnSpc>
              <a:defRPr sz="1200" b="0">
                <a:solidFill>
                  <a:srgbClr val="1D252C"/>
                </a:solidFill>
                <a:latin typeface="Noto Sans CJK SC"/>
              </a:defRPr>
            </a:pPr>
            <a:r>
              <a:t>4 contexts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27264" y="3044952"/>
            <a:ext cx="475488" cy="256032"/>
          </a:xfrm>
          <a:prstGeom prst="rightArrow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84463" y="1444752"/>
            <a:ext cx="3246120" cy="39776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1700784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3D8B66"/>
                </a:solidFill>
                <a:latin typeface="Aptos"/>
              </a:defRPr>
            </a:pPr>
            <a:r>
              <a:t>Tensor 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240280"/>
            <a:ext cx="28346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3100" b="1">
                <a:solidFill>
                  <a:srgbClr val="3D8B66"/>
                </a:solidFill>
                <a:latin typeface="Aptos"/>
              </a:defRPr>
            </a:pPr>
            <a:r>
              <a:t>598 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999232"/>
            <a:ext cx="283464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200" b="0">
                <a:solidFill>
                  <a:srgbClr val="1D252C"/>
                </a:solidFill>
                <a:latin typeface="Noto Sans CJK SC"/>
              </a:defRPr>
            </a:pPr>
            <a:r>
              <a:t>1 tensor job</a:t>
            </a:r>
          </a:p>
          <a:p>
            <a:pPr algn="ctr">
              <a:lnSpc>
                <a:spcPct val="100000"/>
              </a:lnSpc>
              <a:defRPr sz="1200" b="0">
                <a:solidFill>
                  <a:srgbClr val="1D252C"/>
                </a:solidFill>
                <a:latin typeface="Noto Sans CJK SC"/>
              </a:defRPr>
            </a:pPr>
            <a:r>
              <a:t>16 endpoints</a:t>
            </a:r>
          </a:p>
          <a:p>
            <a:pPr algn="ctr">
              <a:lnSpc>
                <a:spcPct val="100000"/>
              </a:lnSpc>
              <a:defRPr sz="1200" b="0">
                <a:solidFill>
                  <a:srgbClr val="1D252C"/>
                </a:solidFill>
                <a:latin typeface="Noto Sans CJK SC"/>
              </a:defRPr>
            </a:pPr>
            <a:r>
              <a:t>completion aggregation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4727448"/>
            <a:ext cx="2697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637078"/>
                </a:solidFill>
                <a:latin typeface="Noto Sans CJK SC"/>
              </a:defRPr>
            </a:pPr>
            <a:r>
              <a:t>最终 accelerator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5010912"/>
            <a:ext cx="2697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2000" b="1">
                <a:solidFill>
                  <a:srgbClr val="087E8B"/>
                </a:solidFill>
                <a:latin typeface="Aptos"/>
              </a:defRPr>
            </a:pPr>
            <a:r>
              <a:t>66,062 cycles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6291072"/>
            <a:ext cx="11155680" cy="365760"/>
          </a:xfrm>
          <a:prstGeom prst="roundRect">
            <a:avLst/>
          </a:prstGeom>
          <a:solidFill>
            <a:srgbClr val="E8EFED"/>
          </a:solidFill>
          <a:ln w="10160">
            <a:solidFill>
              <a:srgbClr val="E8E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345936"/>
            <a:ext cx="108356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1D252C"/>
                </a:solidFill>
                <a:latin typeface="Noto Sans CJK SC"/>
              </a:defRPr>
            </a:pPr>
            <a:r>
              <a:t>系统级改善来自架构收敛；66,062 cycles 是 descriptor 到完成的 accelerator 指标。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675120"/>
            <a:ext cx="1088136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720" b="0">
                <a:solidFill>
                  <a:srgbClr val="637078"/>
                </a:solidFill>
                <a:latin typeface="Aptos"/>
              </a:defRPr>
            </a:pPr>
            <a:r>
              <a:t>Whole-system values use comparable retained runs; clean instrumentation build is excluded from this comparison.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539728" y="6675120"/>
            <a:ext cx="109728" cy="2743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850" b="1">
                <a:solidFill>
                  <a:srgbClr val="087E8B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1D252C"/>
                </a:solidFill>
                <a:latin typeface="Noto Sans CJK SC"/>
              </a:defRPr>
            </a:pPr>
            <a:r>
              <a:t>单 tensor job 在硬件内分发1024行，16个Row Engine独立推进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47472"/>
            <a:ext cx="411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63707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96512" y="1234440"/>
            <a:ext cx="3931920" cy="713232"/>
          </a:xfrm>
          <a:prstGeom prst="roundRect">
            <a:avLst/>
          </a:prstGeom>
          <a:solidFill>
            <a:srgbClr val="DDEFF0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96512" y="1234440"/>
            <a:ext cx="64008" cy="71323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61104" y="1344168"/>
            <a:ext cx="36393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D252C"/>
                </a:solidFill>
                <a:latin typeface="Noto Sans CJK SC"/>
              </a:defRPr>
            </a:pPr>
            <a:r>
              <a:t>Tensor Softmax Job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1104" y="1709928"/>
            <a:ext cx="3639312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37078"/>
                </a:solidFill>
                <a:latin typeface="Noto Sans CJK SC"/>
              </a:defRPr>
            </a:pPr>
            <a:r>
              <a:t>row allocation · credits · completion aggregation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06440" y="2048256"/>
            <a:ext cx="493776" cy="256032"/>
          </a:xfrm>
          <a:prstGeom prst="rightArrow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2578608"/>
            <a:ext cx="1115568" cy="749808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688336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1D252C"/>
                </a:solidFill>
                <a:latin typeface="Aptos"/>
              </a:defRPr>
            </a:pPr>
            <a:r>
              <a:t>Tile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971800"/>
            <a:ext cx="11155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637078"/>
                </a:solidFill>
                <a:latin typeface="Aptos"/>
              </a:defRPr>
            </a:pPr>
            <a:r>
              <a:t>64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39112" y="2578608"/>
            <a:ext cx="1115568" cy="749808"/>
          </a:xfrm>
          <a:prstGeom prst="roundRect">
            <a:avLst/>
          </a:prstGeom>
          <a:solidFill>
            <a:srgbClr val="DDEFF0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39112" y="2688336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1D252C"/>
                </a:solidFill>
                <a:latin typeface="Aptos"/>
              </a:defRPr>
            </a:pPr>
            <a:r>
              <a:t>Tile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9112" y="2971800"/>
            <a:ext cx="11155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637078"/>
                </a:solidFill>
                <a:latin typeface="Aptos"/>
              </a:defRPr>
            </a:pPr>
            <a:r>
              <a:t>64 rows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6432" y="2578608"/>
            <a:ext cx="1115568" cy="749808"/>
          </a:xfrm>
          <a:prstGeom prst="roundRect">
            <a:avLst/>
          </a:prstGeom>
          <a:solidFill>
            <a:srgbClr val="E2F0E9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2688336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1D252C"/>
                </a:solidFill>
                <a:latin typeface="Aptos"/>
              </a:defRPr>
            </a:pPr>
            <a:r>
              <a:t>Tile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971800"/>
            <a:ext cx="11155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637078"/>
                </a:solidFill>
                <a:latin typeface="Aptos"/>
              </a:defRPr>
            </a:pPr>
            <a:r>
              <a:t>64 rows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73752" y="2578608"/>
            <a:ext cx="1115568" cy="749808"/>
          </a:xfrm>
          <a:prstGeom prst="roundRect">
            <a:avLst/>
          </a:prstGeom>
          <a:solidFill>
            <a:srgbClr val="F7ECD1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3752" y="2688336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1D252C"/>
                </a:solidFill>
                <a:latin typeface="Aptos"/>
              </a:defRPr>
            </a:pPr>
            <a:r>
              <a:t>Tile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3752" y="2971800"/>
            <a:ext cx="11155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637078"/>
                </a:solidFill>
                <a:latin typeface="Aptos"/>
              </a:defRPr>
            </a:pPr>
            <a:r>
              <a:t>64 rows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2578608"/>
            <a:ext cx="1115568" cy="749808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2688336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1D252C"/>
                </a:solidFill>
                <a:latin typeface="Aptos"/>
              </a:defRPr>
            </a:pPr>
            <a:r>
              <a:t>Tile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2971800"/>
            <a:ext cx="11155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637078"/>
                </a:solidFill>
                <a:latin typeface="Aptos"/>
              </a:defRPr>
            </a:pPr>
            <a:r>
              <a:t>64 rows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08392" y="2578608"/>
            <a:ext cx="1115568" cy="749808"/>
          </a:xfrm>
          <a:prstGeom prst="roundRect">
            <a:avLst/>
          </a:prstGeom>
          <a:solidFill>
            <a:srgbClr val="DDEFF0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08392" y="2688336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1D252C"/>
                </a:solidFill>
                <a:latin typeface="Aptos"/>
              </a:defRPr>
            </a:pPr>
            <a:r>
              <a:t>Tile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08392" y="2971800"/>
            <a:ext cx="11155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637078"/>
                </a:solidFill>
                <a:latin typeface="Aptos"/>
              </a:defRPr>
            </a:pPr>
            <a:r>
              <a:t>64 rows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25712" y="2578608"/>
            <a:ext cx="1115568" cy="749808"/>
          </a:xfrm>
          <a:prstGeom prst="roundRect">
            <a:avLst/>
          </a:prstGeom>
          <a:solidFill>
            <a:srgbClr val="E2F0E9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25712" y="2688336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1D252C"/>
                </a:solidFill>
                <a:latin typeface="Aptos"/>
              </a:defRPr>
            </a:pPr>
            <a:r>
              <a:t>Tile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25712" y="2971800"/>
            <a:ext cx="11155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637078"/>
                </a:solidFill>
                <a:latin typeface="Aptos"/>
              </a:defRPr>
            </a:pPr>
            <a:r>
              <a:t>64 rows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43032" y="2578608"/>
            <a:ext cx="1115568" cy="749808"/>
          </a:xfrm>
          <a:prstGeom prst="roundRect">
            <a:avLst/>
          </a:prstGeom>
          <a:solidFill>
            <a:srgbClr val="F7ECD1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43032" y="2688336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1D252C"/>
                </a:solidFill>
                <a:latin typeface="Aptos"/>
              </a:defRPr>
            </a:pPr>
            <a:r>
              <a:t>Tile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43032" y="2971800"/>
            <a:ext cx="11155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637078"/>
                </a:solidFill>
                <a:latin typeface="Aptos"/>
              </a:defRPr>
            </a:pPr>
            <a:r>
              <a:t>64 rows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" y="3657600"/>
            <a:ext cx="1115568" cy="749808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3767328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1D252C"/>
                </a:solidFill>
                <a:latin typeface="Aptos"/>
              </a:defRPr>
            </a:pPr>
            <a:r>
              <a:t>Tile 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050791"/>
            <a:ext cx="11155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637078"/>
                </a:solidFill>
                <a:latin typeface="Aptos"/>
              </a:defRPr>
            </a:pPr>
            <a:r>
              <a:t>64 rows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39112" y="3657600"/>
            <a:ext cx="1115568" cy="749808"/>
          </a:xfrm>
          <a:prstGeom prst="roundRect">
            <a:avLst/>
          </a:prstGeom>
          <a:solidFill>
            <a:srgbClr val="DDEFF0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39112" y="3767328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1D252C"/>
                </a:solidFill>
                <a:latin typeface="Aptos"/>
              </a:defRPr>
            </a:pPr>
            <a:r>
              <a:t>Tile 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39112" y="4050791"/>
            <a:ext cx="11155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637078"/>
                </a:solidFill>
                <a:latin typeface="Aptos"/>
              </a:defRPr>
            </a:pPr>
            <a:r>
              <a:t>64 rows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56432" y="3657600"/>
            <a:ext cx="1115568" cy="749808"/>
          </a:xfrm>
          <a:prstGeom prst="roundRect">
            <a:avLst/>
          </a:prstGeom>
          <a:solidFill>
            <a:srgbClr val="E2F0E9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56432" y="3767328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1D252C"/>
                </a:solidFill>
                <a:latin typeface="Aptos"/>
              </a:defRPr>
            </a:pPr>
            <a:r>
              <a:t>Tile 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6432" y="4050791"/>
            <a:ext cx="11155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637078"/>
                </a:solidFill>
                <a:latin typeface="Aptos"/>
              </a:defRPr>
            </a:pPr>
            <a:r>
              <a:t>64 rows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73752" y="3657600"/>
            <a:ext cx="1115568" cy="749808"/>
          </a:xfrm>
          <a:prstGeom prst="roundRect">
            <a:avLst/>
          </a:prstGeom>
          <a:solidFill>
            <a:srgbClr val="F7ECD1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73752" y="3767328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1D252C"/>
                </a:solidFill>
                <a:latin typeface="Aptos"/>
              </a:defRPr>
            </a:pPr>
            <a:r>
              <a:t>Tile 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73752" y="4050791"/>
            <a:ext cx="11155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637078"/>
                </a:solidFill>
                <a:latin typeface="Aptos"/>
              </a:defRPr>
            </a:pPr>
            <a:r>
              <a:t>64 rows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91072" y="3657600"/>
            <a:ext cx="1115568" cy="749808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91072" y="3767328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1D252C"/>
                </a:solidFill>
                <a:latin typeface="Aptos"/>
              </a:defRPr>
            </a:pPr>
            <a:r>
              <a:t>Tile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91072" y="4050791"/>
            <a:ext cx="11155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637078"/>
                </a:solidFill>
                <a:latin typeface="Aptos"/>
              </a:defRPr>
            </a:pPr>
            <a:r>
              <a:t>64 rows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08392" y="3657600"/>
            <a:ext cx="1115568" cy="749808"/>
          </a:xfrm>
          <a:prstGeom prst="roundRect">
            <a:avLst/>
          </a:prstGeom>
          <a:solidFill>
            <a:srgbClr val="DDEFF0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08392" y="3767328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1D252C"/>
                </a:solidFill>
                <a:latin typeface="Aptos"/>
              </a:defRPr>
            </a:pPr>
            <a:r>
              <a:t>Tile 13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08392" y="4050791"/>
            <a:ext cx="11155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637078"/>
                </a:solidFill>
                <a:latin typeface="Aptos"/>
              </a:defRPr>
            </a:pPr>
            <a:r>
              <a:t>64 rows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25712" y="3657600"/>
            <a:ext cx="1115568" cy="749808"/>
          </a:xfrm>
          <a:prstGeom prst="roundRect">
            <a:avLst/>
          </a:prstGeom>
          <a:solidFill>
            <a:srgbClr val="E2F0E9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25712" y="3767328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1D252C"/>
                </a:solidFill>
                <a:latin typeface="Aptos"/>
              </a:defRPr>
            </a:pPr>
            <a:r>
              <a:t>Tile 14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25712" y="4050791"/>
            <a:ext cx="11155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637078"/>
                </a:solidFill>
                <a:latin typeface="Aptos"/>
              </a:defRPr>
            </a:pPr>
            <a:r>
              <a:t>64 rows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543032" y="3657600"/>
            <a:ext cx="1115568" cy="749808"/>
          </a:xfrm>
          <a:prstGeom prst="roundRect">
            <a:avLst/>
          </a:prstGeom>
          <a:solidFill>
            <a:srgbClr val="F7ECD1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43032" y="3767328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1D252C"/>
                </a:solidFill>
                <a:latin typeface="Aptos"/>
              </a:defRPr>
            </a:pPr>
            <a:r>
              <a:t>Tile 15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43032" y="4050791"/>
            <a:ext cx="11155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637078"/>
                </a:solidFill>
                <a:latin typeface="Aptos"/>
              </a:defRPr>
            </a:pPr>
            <a:r>
              <a:t>64 rows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5806440" y="4690872"/>
            <a:ext cx="493776" cy="256032"/>
          </a:xfrm>
          <a:prstGeom prst="rightArrow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788920" y="5175504"/>
            <a:ext cx="1325880" cy="585216"/>
          </a:xfrm>
          <a:prstGeom prst="roundRect">
            <a:avLst/>
          </a:prstGeom>
          <a:solidFill>
            <a:srgbClr val="4C78A8"/>
          </a:solidFill>
          <a:ln w="10160">
            <a:solidFill>
              <a:srgbClr val="4C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88920" y="5358384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HBM0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480560" y="5175504"/>
            <a:ext cx="1325880" cy="585216"/>
          </a:xfrm>
          <a:prstGeom prst="round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80560" y="5358384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HBM1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72200" y="5175504"/>
            <a:ext cx="1325880" cy="585216"/>
          </a:xfrm>
          <a:prstGeom prst="roundRect">
            <a:avLst/>
          </a:prstGeom>
          <a:solidFill>
            <a:srgbClr val="3D8B66"/>
          </a:solidFill>
          <a:ln w="10160">
            <a:solidFill>
              <a:srgbClr val="3D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72200" y="5358384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HBM2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863840" y="5175504"/>
            <a:ext cx="1325880" cy="585216"/>
          </a:xfrm>
          <a:prstGeom prst="roundRect">
            <a:avLst/>
          </a:prstGeom>
          <a:solidFill>
            <a:srgbClr val="D99A22"/>
          </a:solidFill>
          <a:ln w="10160">
            <a:solidFill>
              <a:srgbClr val="D9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63840" y="5358384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FFFF"/>
                </a:solidFill>
                <a:latin typeface="Aptos"/>
              </a:defRPr>
            </a:pPr>
            <a:r>
              <a:t>HBM3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74352" y="5102352"/>
            <a:ext cx="164592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1">
                <a:solidFill>
                  <a:srgbClr val="637078"/>
                </a:solidFill>
                <a:latin typeface="Aptos"/>
              </a:defRPr>
            </a:pPr>
            <a:r>
              <a:t>band-striped</a:t>
            </a:r>
          </a:p>
          <a:p>
            <a:pPr algn="ctr">
              <a:lnSpc>
                <a:spcPct val="100000"/>
              </a:lnSpc>
              <a:defRPr sz="950" b="1">
                <a:solidFill>
                  <a:srgbClr val="637078"/>
                </a:solidFill>
                <a:latin typeface="Aptos"/>
              </a:defRPr>
            </a:pPr>
            <a:r>
              <a:t>input + output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2920" y="6291072"/>
            <a:ext cx="11155680" cy="365760"/>
          </a:xfrm>
          <a:prstGeom prst="roundRect">
            <a:avLst/>
          </a:prstGeom>
          <a:solidFill>
            <a:srgbClr val="E9ECE9"/>
          </a:solidFill>
          <a:ln w="10160">
            <a:solidFill>
              <a:srgbClr val="E9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368" y="6345936"/>
            <a:ext cx="108356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1D252C"/>
                </a:solidFill>
                <a:latin typeface="Noto Sans CJK SC"/>
              </a:defRPr>
            </a:pPr>
            <a:r>
              <a:t>dim=4096 主路径采用 1 tile/row；每个tile完整拥有一行，因此不产生跨tile reduction。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0352" y="6675120"/>
            <a:ext cx="1088136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720" b="0">
                <a:solidFill>
                  <a:srgbClr val="637078"/>
                </a:solidFill>
                <a:latin typeface="Aptos"/>
              </a:defRPr>
            </a:pPr>
            <a:r>
              <a:t>Source: row-engine architecture design §§4, 6, 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539728" y="6675120"/>
            <a:ext cx="109728" cy="2743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850" b="1">
                <a:solidFill>
                  <a:srgbClr val="087E8B"/>
                </a:solidFill>
                <a:latin typeface="Aptos"/>
              </a:defRPr>
            </a:pPr>
            <a:r>
              <a:t>MICROARCHITECTURE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1D252C"/>
                </a:solidFill>
                <a:latin typeface="Noto Sans CJK SC"/>
              </a:defRPr>
            </a:pPr>
            <a:r>
              <a:t>Row Engine 将vector、reduction、EXP和DMA拆成独立资源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47472"/>
            <a:ext cx="411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63707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1920240"/>
            <a:ext cx="1572768" cy="1133856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30552"/>
            <a:ext cx="142646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4C78A8"/>
                </a:solidFill>
                <a:latin typeface="Aptos"/>
              </a:defRPr>
            </a:pPr>
            <a:r>
              <a:t>Input DMA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14600"/>
            <a:ext cx="142646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0">
                <a:solidFill>
                  <a:srgbClr val="637078"/>
                </a:solidFill>
                <a:latin typeface="Aptos"/>
              </a:defRPr>
            </a:pPr>
            <a:r>
              <a:t>HBM → SRAM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94560" y="2359152"/>
            <a:ext cx="283464" cy="182880"/>
          </a:xfrm>
          <a:prstGeom prst="rightArrow">
            <a:avLst/>
          </a:prstGeom>
          <a:solidFill>
            <a:srgbClr val="63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87168" y="1920240"/>
            <a:ext cx="1572768" cy="1133856"/>
          </a:xfrm>
          <a:prstGeom prst="roundRect">
            <a:avLst/>
          </a:prstGeom>
          <a:solidFill>
            <a:srgbClr val="DDEFF0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130552"/>
            <a:ext cx="142646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087E8B"/>
                </a:solidFill>
                <a:latin typeface="Aptos"/>
              </a:defRPr>
            </a:pPr>
            <a:r>
              <a:t>16-lane Vector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514600"/>
            <a:ext cx="142646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0">
                <a:solidFill>
                  <a:srgbClr val="637078"/>
                </a:solidFill>
                <a:latin typeface="Aptos"/>
              </a:defRPr>
            </a:pPr>
            <a:r>
              <a:t>MAX / SUB / MUL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96512" y="2359152"/>
            <a:ext cx="283464" cy="182880"/>
          </a:xfrm>
          <a:prstGeom prst="rightArrow">
            <a:avLst/>
          </a:prstGeom>
          <a:solidFill>
            <a:srgbClr val="63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920240"/>
            <a:ext cx="1572768" cy="1133856"/>
          </a:xfrm>
          <a:prstGeom prst="roundRect">
            <a:avLst/>
          </a:prstGeom>
          <a:solidFill>
            <a:srgbClr val="E2F0E9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2130552"/>
            <a:ext cx="142646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3D8B66"/>
                </a:solidFill>
                <a:latin typeface="Aptos"/>
              </a:defRPr>
            </a:pPr>
            <a:r>
              <a:t>Reduction Tree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514600"/>
            <a:ext cx="142646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0">
                <a:solidFill>
                  <a:srgbClr val="637078"/>
                </a:solidFill>
                <a:latin typeface="Aptos"/>
              </a:defRPr>
            </a:pPr>
            <a:r>
              <a:t>16 inputs · 4 cycles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98464" y="2359152"/>
            <a:ext cx="283464" cy="182880"/>
          </a:xfrm>
          <a:prstGeom prst="rightArrow">
            <a:avLst/>
          </a:prstGeom>
          <a:solidFill>
            <a:srgbClr val="63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91072" y="1920240"/>
            <a:ext cx="1572768" cy="1133856"/>
          </a:xfrm>
          <a:prstGeom prst="roundRect">
            <a:avLst/>
          </a:prstGeom>
          <a:solidFill>
            <a:srgbClr val="F5E3E1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2130552"/>
            <a:ext cx="142646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C6423E"/>
                </a:solidFill>
                <a:latin typeface="Aptos"/>
              </a:defRPr>
            </a:pPr>
            <a:r>
              <a:t>4-lane EXP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514600"/>
            <a:ext cx="142646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0">
                <a:solidFill>
                  <a:srgbClr val="637078"/>
                </a:solidFill>
                <a:latin typeface="Aptos"/>
              </a:defRPr>
            </a:pPr>
            <a:r>
              <a:t>latency 8 · pipelined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900416" y="2359152"/>
            <a:ext cx="283464" cy="182880"/>
          </a:xfrm>
          <a:prstGeom prst="rightArrow">
            <a:avLst/>
          </a:prstGeom>
          <a:solidFill>
            <a:srgbClr val="63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93024" y="1920240"/>
            <a:ext cx="1572768" cy="1133856"/>
          </a:xfrm>
          <a:prstGeom prst="roundRect">
            <a:avLst/>
          </a:prstGeom>
          <a:solidFill>
            <a:srgbClr val="F7ECD1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2130552"/>
            <a:ext cx="142646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D99A22"/>
                </a:solidFill>
                <a:latin typeface="Aptos"/>
              </a:defRPr>
            </a:pPr>
            <a:r>
              <a:t>Reciprocal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514600"/>
            <a:ext cx="142646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0">
                <a:solidFill>
                  <a:srgbClr val="637078"/>
                </a:solidFill>
                <a:latin typeface="Aptos"/>
              </a:defRPr>
            </a:pPr>
            <a:r>
              <a:t>1 / row_sum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802368" y="2359152"/>
            <a:ext cx="283464" cy="182880"/>
          </a:xfrm>
          <a:prstGeom prst="rightArrow">
            <a:avLst/>
          </a:prstGeom>
          <a:solidFill>
            <a:srgbClr val="63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94976" y="1920240"/>
            <a:ext cx="1572768" cy="1133856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68128" y="2130552"/>
            <a:ext cx="142646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4C78A8"/>
                </a:solidFill>
                <a:latin typeface="Aptos"/>
              </a:defRPr>
            </a:pPr>
            <a:r>
              <a:t>Output DMA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8128" y="2514600"/>
            <a:ext cx="142646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0">
                <a:solidFill>
                  <a:srgbClr val="637078"/>
                </a:solidFill>
                <a:latin typeface="Aptos"/>
              </a:defRPr>
            </a:pPr>
            <a:r>
              <a:t>SRAM → HBM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83664" y="3703320"/>
            <a:ext cx="8412480" cy="103327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84831" y="3895344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1D252C"/>
                </a:solidFill>
                <a:latin typeface="Aptos"/>
              </a:defRPr>
            </a:pPr>
            <a:r>
              <a:t>64 KiB Scratchpad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07408" y="3877056"/>
            <a:ext cx="1042415" cy="512064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07408" y="4041648"/>
            <a:ext cx="104241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1D252C"/>
                </a:solidFill>
                <a:latin typeface="Aptos"/>
              </a:defRPr>
            </a:pPr>
            <a:r>
              <a:t>Context 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05856" y="3877056"/>
            <a:ext cx="1042415" cy="512064"/>
          </a:xfrm>
          <a:prstGeom prst="roundRect">
            <a:avLst/>
          </a:prstGeom>
          <a:solidFill>
            <a:srgbClr val="DDEFF0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05856" y="4041648"/>
            <a:ext cx="104241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1D252C"/>
                </a:solidFill>
                <a:latin typeface="Aptos"/>
              </a:defRPr>
            </a:pPr>
            <a:r>
              <a:t>Context 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04304" y="3877056"/>
            <a:ext cx="1042415" cy="512064"/>
          </a:xfrm>
          <a:prstGeom prst="roundRect">
            <a:avLst/>
          </a:prstGeom>
          <a:solidFill>
            <a:srgbClr val="E2F0E9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04304" y="4041648"/>
            <a:ext cx="104241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1D252C"/>
                </a:solidFill>
                <a:latin typeface="Aptos"/>
              </a:defRPr>
            </a:pPr>
            <a:r>
              <a:t>Context 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02752" y="3877056"/>
            <a:ext cx="1042415" cy="512064"/>
          </a:xfrm>
          <a:prstGeom prst="roundRect">
            <a:avLst/>
          </a:prstGeom>
          <a:solidFill>
            <a:srgbClr val="F7ECD1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4041648"/>
            <a:ext cx="104241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1D252C"/>
                </a:solidFill>
                <a:latin typeface="Aptos"/>
              </a:defRPr>
            </a:pPr>
            <a:r>
              <a:t>Context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3941063"/>
            <a:ext cx="9509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637078"/>
                </a:solidFill>
                <a:latin typeface="Aptos"/>
              </a:defRPr>
            </a:pPr>
            <a:r>
              <a:t>16 KiB / row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166360"/>
            <a:ext cx="30175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5166360"/>
            <a:ext cx="64008" cy="65836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" y="5276088"/>
            <a:ext cx="27249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1D252C"/>
                </a:solidFill>
                <a:latin typeface="Noto Sans CJK SC"/>
              </a:defRPr>
            </a:pPr>
            <a:r>
              <a:t>Event-driven timing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" y="5641848"/>
            <a:ext cx="2724912" cy="914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637078"/>
                </a:solidFill>
                <a:latin typeface="Noto Sans CJK SC"/>
              </a:defRPr>
            </a:pPr>
            <a:r>
              <a:t>stage completion self-event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53712" y="5166360"/>
            <a:ext cx="30175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53712" y="5166360"/>
            <a:ext cx="64008" cy="658368"/>
          </a:xfrm>
          <a:prstGeom prst="rect">
            <a:avLst/>
          </a:prstGeom>
          <a:solidFill>
            <a:srgbClr val="3D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18304" y="5276088"/>
            <a:ext cx="27249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1D252C"/>
                </a:solidFill>
                <a:latin typeface="Noto Sans CJK SC"/>
              </a:defRPr>
            </a:pPr>
            <a:r>
              <a:t>Resource reservation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18304" y="5641848"/>
            <a:ext cx="2724912" cy="914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637078"/>
                </a:solidFill>
                <a:latin typeface="Noto Sans CJK SC"/>
              </a:defRPr>
            </a:pPr>
            <a:r>
              <a:t>free_cycle + ready_cycle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21040" y="5166360"/>
            <a:ext cx="30175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21040" y="5166360"/>
            <a:ext cx="64008" cy="658368"/>
          </a:xfrm>
          <a:prstGeom prst="rect">
            <a:avLst/>
          </a:prstGeom>
          <a:solidFill>
            <a:srgbClr val="D9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85632" y="5276088"/>
            <a:ext cx="27249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1D252C"/>
                </a:solidFill>
                <a:latin typeface="Noto Sans CJK SC"/>
              </a:defRPr>
            </a:pPr>
            <a:r>
              <a:t>No per-element event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5632" y="5641848"/>
            <a:ext cx="2724912" cy="914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637078"/>
                </a:solidFill>
                <a:latin typeface="Noto Sans CJK SC"/>
              </a:defRPr>
            </a:pPr>
            <a:r>
              <a:t>降低SST simulation time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6291072"/>
            <a:ext cx="11155680" cy="365760"/>
          </a:xfrm>
          <a:prstGeom prst="roundRect">
            <a:avLst/>
          </a:prstGeom>
          <a:solidFill>
            <a:srgbClr val="E9ECE9"/>
          </a:solidFill>
          <a:ln w="10160">
            <a:solidFill>
              <a:srgbClr val="E9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6345936"/>
            <a:ext cx="108356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1D252C"/>
                </a:solidFill>
                <a:latin typeface="Noto Sans CJK SC"/>
              </a:defRPr>
            </a:pPr>
            <a:r>
              <a:t>资源解耦允许不同row同时处于MAX、EXP、Normalize和DMA阶段。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6675120"/>
            <a:ext cx="1088136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720" b="0">
                <a:solidFill>
                  <a:srgbClr val="637078"/>
                </a:solidFill>
                <a:latin typeface="Aptos"/>
              </a:defRPr>
            </a:pPr>
            <a:r>
              <a:t>Source: row-engine architecture design §5; current SST parameters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539728" y="6675120"/>
            <a:ext cx="109728" cy="2743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850" b="1">
                <a:solidFill>
                  <a:srgbClr val="087E8B"/>
                </a:solidFill>
                <a:latin typeface="Aptos"/>
              </a:defRPr>
            </a:pPr>
            <a:r>
              <a:t>DATAFLOW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1D252C"/>
                </a:solidFill>
                <a:latin typeface="Noto Sans CJK SC"/>
              </a:defRPr>
            </a:pPr>
            <a:r>
              <a:t>一行只读一次、只写一次，中间结果全部留在16 KiB本地buffer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47472"/>
            <a:ext cx="411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63707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0352" y="1847088"/>
            <a:ext cx="1874519" cy="2240280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2011680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2000" b="1">
                <a:solidFill>
                  <a:srgbClr val="4C78A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78608"/>
            <a:ext cx="15087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1D252C"/>
                </a:solidFill>
                <a:latin typeface="Aptos"/>
              </a:defRPr>
            </a:pPr>
            <a:r>
              <a:t>DMA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27248"/>
            <a:ext cx="15087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637078"/>
                </a:solidFill>
                <a:latin typeface="Noto Sans CJK SC"/>
              </a:defRPr>
            </a:pPr>
            <a:r>
              <a:t>buffer = x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32304" y="2816352"/>
            <a:ext cx="347472" cy="219456"/>
          </a:xfrm>
          <a:prstGeom prst="rightArrow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34640" y="1847088"/>
            <a:ext cx="1874519" cy="2240280"/>
          </a:xfrm>
          <a:prstGeom prst="roundRect">
            <a:avLst/>
          </a:prstGeom>
          <a:solidFill>
            <a:srgbClr val="DDEFF0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0944" y="2011680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2000" b="1">
                <a:solidFill>
                  <a:srgbClr val="087E8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578608"/>
            <a:ext cx="15087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1D252C"/>
                </a:solidFill>
                <a:latin typeface="Aptos"/>
              </a:defRPr>
            </a:pPr>
            <a:r>
              <a:t>MAX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127248"/>
            <a:ext cx="15087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637078"/>
                </a:solidFill>
                <a:latin typeface="Noto Sans CJK SC"/>
              </a:defRPr>
            </a:pPr>
            <a:r>
              <a:t>x 保留</a:t>
            </a:r>
          </a:p>
          <a:p>
            <a:pPr algn="ctr">
              <a:lnSpc>
                <a:spcPct val="100000"/>
              </a:lnSpc>
              <a:defRPr sz="1000" b="0">
                <a:solidFill>
                  <a:srgbClr val="637078"/>
                </a:solidFill>
                <a:latin typeface="Noto Sans CJK SC"/>
              </a:defRPr>
            </a:pPr>
            <a:r>
              <a:t>产生 local_max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36592" y="2816352"/>
            <a:ext cx="347472" cy="219456"/>
          </a:xfrm>
          <a:prstGeom prst="rightArrow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38928" y="1847088"/>
            <a:ext cx="1874519" cy="2240280"/>
          </a:xfrm>
          <a:prstGeom prst="roundRect">
            <a:avLst/>
          </a:prstGeom>
          <a:solidFill>
            <a:srgbClr val="F5E3E1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5232" y="2011680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2000" b="1">
                <a:solidFill>
                  <a:srgbClr val="C6423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2578608"/>
            <a:ext cx="15087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1D252C"/>
                </a:solidFill>
                <a:latin typeface="Aptos"/>
              </a:defRPr>
            </a:pPr>
            <a:r>
              <a:t>EXP + SUM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3127248"/>
            <a:ext cx="15087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637078"/>
                </a:solidFill>
                <a:latin typeface="Noto Sans CJK SC"/>
              </a:defRPr>
            </a:pPr>
            <a:r>
              <a:t>覆盖为 exp(x-max)</a:t>
            </a:r>
          </a:p>
          <a:p>
            <a:pPr algn="ctr">
              <a:lnSpc>
                <a:spcPct val="100000"/>
              </a:lnSpc>
              <a:defRPr sz="1000" b="0">
                <a:solidFill>
                  <a:srgbClr val="637078"/>
                </a:solidFill>
                <a:latin typeface="Noto Sans CJK SC"/>
              </a:defRPr>
            </a:pPr>
            <a:r>
              <a:t>累加 local_sum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40880" y="2816352"/>
            <a:ext cx="347472" cy="219456"/>
          </a:xfrm>
          <a:prstGeom prst="rightArrow">
            <a:avLst/>
          </a:prstGeom>
          <a:solidFill>
            <a:srgbClr val="C6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43216" y="1847088"/>
            <a:ext cx="1874519" cy="2240280"/>
          </a:xfrm>
          <a:prstGeom prst="roundRect">
            <a:avLst/>
          </a:prstGeom>
          <a:solidFill>
            <a:srgbClr val="E2F0E9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2011680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2000" b="1">
                <a:solidFill>
                  <a:srgbClr val="3D8B6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6096" y="2578608"/>
            <a:ext cx="15087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1D252C"/>
                </a:solidFill>
                <a:latin typeface="Aptos"/>
              </a:defRPr>
            </a:pPr>
            <a:r>
              <a:t>NORMALIZE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6" y="3127248"/>
            <a:ext cx="15087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637078"/>
                </a:solidFill>
                <a:latin typeface="Noto Sans CJK SC"/>
              </a:defRPr>
            </a:pPr>
            <a:r>
              <a:t>buffer *= 1/sum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45168" y="2816352"/>
            <a:ext cx="347472" cy="219456"/>
          </a:xfrm>
          <a:prstGeom prst="rightArrow">
            <a:avLst/>
          </a:prstGeom>
          <a:solidFill>
            <a:srgbClr val="3D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47504" y="1847088"/>
            <a:ext cx="1874519" cy="2240280"/>
          </a:xfrm>
          <a:prstGeom prst="roundRect">
            <a:avLst/>
          </a:prstGeom>
          <a:solidFill>
            <a:srgbClr val="F7ECD1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93808" y="2011680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2000" b="1">
                <a:solidFill>
                  <a:srgbClr val="D99A2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0384" y="2578608"/>
            <a:ext cx="15087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1D252C"/>
                </a:solidFill>
                <a:latin typeface="Aptos"/>
              </a:defRPr>
            </a:pPr>
            <a:r>
              <a:t>DMA 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0384" y="3127248"/>
            <a:ext cx="15087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637078"/>
                </a:solidFill>
                <a:latin typeface="Noto Sans CJK SC"/>
              </a:defRPr>
            </a:pPr>
            <a:r>
              <a:t>写回 HBM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4773168"/>
            <a:ext cx="22860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4C78A8"/>
                </a:solidFill>
                <a:latin typeface="Aptos"/>
              </a:defRPr>
            </a:pPr>
            <a:r>
              <a:t>16 MiB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" y="5221224"/>
            <a:ext cx="22860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637078"/>
                </a:solidFill>
                <a:latin typeface="Noto Sans CJK SC"/>
              </a:defRPr>
            </a:pPr>
            <a:r>
              <a:t>input payload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4773168"/>
            <a:ext cx="22860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3D8B66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221224"/>
            <a:ext cx="22860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637078"/>
                </a:solidFill>
                <a:latin typeface="Noto Sans CJK SC"/>
              </a:defRPr>
            </a:pPr>
            <a:r>
              <a:t>intermediate HBM traffic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773168"/>
            <a:ext cx="22860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D99A22"/>
                </a:solidFill>
                <a:latin typeface="Aptos"/>
              </a:defRPr>
            </a:pPr>
            <a:r>
              <a:t>16 MiB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5221224"/>
            <a:ext cx="22860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637078"/>
                </a:solidFill>
                <a:latin typeface="Noto Sans CJK SC"/>
              </a:defRPr>
            </a:pPr>
            <a:r>
              <a:t>output payload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4901184"/>
            <a:ext cx="1920240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1D252C"/>
                </a:solidFill>
                <a:latin typeface="Noto Sans CJK SC"/>
              </a:defRPr>
            </a:pPr>
            <a:r>
              <a:t>FP32 1024×4096</a:t>
            </a:r>
          </a:p>
          <a:p>
            <a:pPr algn="ctr">
              <a:lnSpc>
                <a:spcPct val="100000"/>
              </a:lnSpc>
              <a:defRPr sz="1100" b="1">
                <a:solidFill>
                  <a:srgbClr val="1D252C"/>
                </a:solidFill>
                <a:latin typeface="Noto Sans CJK SC"/>
              </a:defRPr>
            </a:pPr>
            <a:r>
              <a:t>总不可消除流量 32 MiB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6291072"/>
            <a:ext cx="11155680" cy="365760"/>
          </a:xfrm>
          <a:prstGeom prst="roundRect">
            <a:avLst/>
          </a:prstGeom>
          <a:solidFill>
            <a:srgbClr val="E9ECE9"/>
          </a:solidFill>
          <a:ln w="10160">
            <a:solidFill>
              <a:srgbClr val="E9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6345936"/>
            <a:ext cx="108356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1D252C"/>
                </a:solidFill>
                <a:latin typeface="Noto Sans CJK SC"/>
              </a:defRPr>
            </a:pPr>
            <a:r>
              <a:t>Softmax仍需三次本地数学pass，但不再为中间EXP结果访问GlobalMemory/HBM。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675120"/>
            <a:ext cx="1088136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720" b="0">
                <a:solidFill>
                  <a:srgbClr val="637078"/>
                </a:solidFill>
                <a:latin typeface="Aptos"/>
              </a:defRPr>
            </a:pPr>
            <a:r>
              <a:t>Source: architecture design §§3.3, 5.2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539728" y="6675120"/>
            <a:ext cx="109728" cy="2743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850" b="1">
                <a:solidFill>
                  <a:srgbClr val="087E8B"/>
                </a:solidFill>
                <a:latin typeface="Aptos"/>
              </a:defRPr>
            </a:pPr>
            <a:r>
              <a:t>SCHEDULING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1D252C"/>
                </a:solidFill>
                <a:latin typeface="Noto Sans CJK SC"/>
              </a:defRPr>
            </a:pPr>
            <a:r>
              <a:t>四个row context把三阶段串行延迟转化为稳态流水吞吐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47472"/>
            <a:ext cx="411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63707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637078"/>
                </a:solidFill>
                <a:latin typeface="Noto Sans CJK SC"/>
              </a:defRPr>
            </a:pPr>
            <a:r>
              <a:t>时间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956816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1D252C"/>
                </a:solidFill>
                <a:latin typeface="Aptos"/>
              </a:defRPr>
            </a:pPr>
            <a:r>
              <a:t>Context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72768" y="1847088"/>
            <a:ext cx="9464040" cy="475488"/>
          </a:xfrm>
          <a:prstGeom prst="roundRect">
            <a:avLst/>
          </a:prstGeom>
          <a:solidFill>
            <a:srgbClr val="EAEEEB"/>
          </a:solidFill>
          <a:ln w="10160">
            <a:solidFill>
              <a:srgbClr val="EA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09344" y="1883664"/>
            <a:ext cx="955547" cy="402336"/>
          </a:xfrm>
          <a:prstGeom prst="roundRect">
            <a:avLst/>
          </a:prstGeom>
          <a:solidFill>
            <a:srgbClr val="4C78A8"/>
          </a:solidFill>
          <a:ln w="10160">
            <a:solidFill>
              <a:srgbClr val="4C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9344" y="1984248"/>
            <a:ext cx="955547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80" b="1">
                <a:solidFill>
                  <a:srgbClr val="FFFFFF"/>
                </a:solidFill>
                <a:latin typeface="Aptos"/>
              </a:defRPr>
            </a:pPr>
            <a:r>
              <a:t>DMA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883664"/>
            <a:ext cx="1097280" cy="402336"/>
          </a:xfrm>
          <a:prstGeom prst="round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984248"/>
            <a:ext cx="109728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80" b="1">
                <a:solidFill>
                  <a:srgbClr val="FFFFFF"/>
                </a:solidFill>
                <a:latin typeface="Aptos"/>
              </a:defRPr>
            </a:pPr>
            <a:r>
              <a:t>MAX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18787" y="1883664"/>
            <a:ext cx="2798064" cy="402336"/>
          </a:xfrm>
          <a:prstGeom prst="roundRect">
            <a:avLst/>
          </a:prstGeom>
          <a:solidFill>
            <a:srgbClr val="C6423E"/>
          </a:solidFill>
          <a:ln w="10160">
            <a:solidFill>
              <a:srgbClr val="C6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18787" y="1984248"/>
            <a:ext cx="2798064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80" b="1">
                <a:solidFill>
                  <a:srgbClr val="FFFFFF"/>
                </a:solidFill>
                <a:latin typeface="Aptos"/>
              </a:defRPr>
            </a:pPr>
            <a:r>
              <a:t>EXP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59" y="1883664"/>
            <a:ext cx="1097280" cy="402336"/>
          </a:xfrm>
          <a:prstGeom prst="roundRect">
            <a:avLst/>
          </a:prstGeom>
          <a:solidFill>
            <a:srgbClr val="3D8B66"/>
          </a:solidFill>
          <a:ln w="10160">
            <a:solidFill>
              <a:srgbClr val="3D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59" y="1984248"/>
            <a:ext cx="109728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80" b="1">
                <a:solidFill>
                  <a:srgbClr val="FFFFFF"/>
                </a:solidFill>
                <a:latin typeface="Aptos"/>
              </a:defRPr>
            </a:pPr>
            <a:r>
              <a:t>NORM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0748" y="1883664"/>
            <a:ext cx="955547" cy="402336"/>
          </a:xfrm>
          <a:prstGeom prst="roundRect">
            <a:avLst/>
          </a:prstGeom>
          <a:solidFill>
            <a:srgbClr val="D99A22"/>
          </a:solidFill>
          <a:ln w="10160">
            <a:solidFill>
              <a:srgbClr val="D9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0748" y="1984248"/>
            <a:ext cx="955547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80" b="1">
                <a:solidFill>
                  <a:srgbClr val="FFFFFF"/>
                </a:solidFill>
                <a:latin typeface="Aptos"/>
              </a:defRPr>
            </a:pPr>
            <a:r>
              <a:t>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761488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1D252C"/>
                </a:solidFill>
                <a:latin typeface="Aptos"/>
              </a:defRPr>
            </a:pPr>
            <a:r>
              <a:t>Context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72768" y="2651760"/>
            <a:ext cx="9464040" cy="475488"/>
          </a:xfrm>
          <a:prstGeom prst="roundRect">
            <a:avLst/>
          </a:prstGeom>
          <a:solidFill>
            <a:srgbClr val="EAEEEB"/>
          </a:solidFill>
          <a:ln w="10160">
            <a:solidFill>
              <a:srgbClr val="EA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43200" y="2688336"/>
            <a:ext cx="955547" cy="402336"/>
          </a:xfrm>
          <a:prstGeom prst="roundRect">
            <a:avLst/>
          </a:prstGeom>
          <a:solidFill>
            <a:srgbClr val="4C78A8"/>
          </a:solidFill>
          <a:ln w="10160">
            <a:solidFill>
              <a:srgbClr val="4C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2788920"/>
            <a:ext cx="955547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80" b="1">
                <a:solidFill>
                  <a:srgbClr val="FFFFFF"/>
                </a:solidFill>
                <a:latin typeface="Aptos"/>
              </a:defRPr>
            </a:pPr>
            <a:r>
              <a:t>DMA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18787" y="2688336"/>
            <a:ext cx="1097280" cy="402336"/>
          </a:xfrm>
          <a:prstGeom prst="round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18787" y="2788920"/>
            <a:ext cx="109728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80" b="1">
                <a:solidFill>
                  <a:srgbClr val="FFFFFF"/>
                </a:solidFill>
                <a:latin typeface="Aptos"/>
              </a:defRPr>
            </a:pPr>
            <a:r>
              <a:t>MAX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94376" y="2688336"/>
            <a:ext cx="2798064" cy="402336"/>
          </a:xfrm>
          <a:prstGeom prst="roundRect">
            <a:avLst/>
          </a:prstGeom>
          <a:solidFill>
            <a:srgbClr val="C6423E"/>
          </a:solidFill>
          <a:ln w="10160">
            <a:solidFill>
              <a:srgbClr val="C6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94376" y="2788920"/>
            <a:ext cx="2798064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80" b="1">
                <a:solidFill>
                  <a:srgbClr val="FFFFFF"/>
                </a:solidFill>
                <a:latin typeface="Aptos"/>
              </a:defRPr>
            </a:pPr>
            <a:r>
              <a:t>EXP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0748" y="2688336"/>
            <a:ext cx="1097280" cy="402336"/>
          </a:xfrm>
          <a:prstGeom prst="roundRect">
            <a:avLst/>
          </a:prstGeom>
          <a:solidFill>
            <a:srgbClr val="3D8B66"/>
          </a:solidFill>
          <a:ln w="10160">
            <a:solidFill>
              <a:srgbClr val="3D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0748" y="2788920"/>
            <a:ext cx="109728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80" b="1">
                <a:solidFill>
                  <a:srgbClr val="FFFFFF"/>
                </a:solidFill>
                <a:latin typeface="Aptos"/>
              </a:defRPr>
            </a:pPr>
            <a:r>
              <a:t>NORM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46336" y="2688336"/>
            <a:ext cx="955547" cy="402336"/>
          </a:xfrm>
          <a:prstGeom prst="roundRect">
            <a:avLst/>
          </a:prstGeom>
          <a:solidFill>
            <a:srgbClr val="D99A22"/>
          </a:solidFill>
          <a:ln w="10160">
            <a:solidFill>
              <a:srgbClr val="D9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46336" y="2788920"/>
            <a:ext cx="955547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80" b="1">
                <a:solidFill>
                  <a:srgbClr val="FFFFFF"/>
                </a:solidFill>
                <a:latin typeface="Aptos"/>
              </a:defRPr>
            </a:pPr>
            <a:r>
              <a:t>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356616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1D252C"/>
                </a:solidFill>
                <a:latin typeface="Aptos"/>
              </a:defRPr>
            </a:pPr>
            <a:r>
              <a:t>Context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72768" y="3456432"/>
            <a:ext cx="9464040" cy="475488"/>
          </a:xfrm>
          <a:prstGeom prst="roundRect">
            <a:avLst/>
          </a:prstGeom>
          <a:solidFill>
            <a:srgbClr val="EAEEEB"/>
          </a:solidFill>
          <a:ln w="10160">
            <a:solidFill>
              <a:srgbClr val="EA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018787" y="3493008"/>
            <a:ext cx="955547" cy="402336"/>
          </a:xfrm>
          <a:prstGeom prst="roundRect">
            <a:avLst/>
          </a:prstGeom>
          <a:solidFill>
            <a:srgbClr val="4C78A8"/>
          </a:solidFill>
          <a:ln w="10160">
            <a:solidFill>
              <a:srgbClr val="4C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18787" y="3593592"/>
            <a:ext cx="955547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80" b="1">
                <a:solidFill>
                  <a:srgbClr val="FFFFFF"/>
                </a:solidFill>
                <a:latin typeface="Aptos"/>
              </a:defRPr>
            </a:pPr>
            <a:r>
              <a:t>DMA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94376" y="3493008"/>
            <a:ext cx="1097280" cy="402336"/>
          </a:xfrm>
          <a:prstGeom prst="round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94376" y="3593592"/>
            <a:ext cx="109728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80" b="1">
                <a:solidFill>
                  <a:srgbClr val="FFFFFF"/>
                </a:solidFill>
                <a:latin typeface="Aptos"/>
              </a:defRPr>
            </a:pPr>
            <a:r>
              <a:t>MAX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69964" y="3493008"/>
            <a:ext cx="2798064" cy="402336"/>
          </a:xfrm>
          <a:prstGeom prst="roundRect">
            <a:avLst/>
          </a:prstGeom>
          <a:solidFill>
            <a:srgbClr val="C6423E"/>
          </a:solidFill>
          <a:ln w="10160">
            <a:solidFill>
              <a:srgbClr val="C6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9964" y="3593592"/>
            <a:ext cx="2798064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80" b="1">
                <a:solidFill>
                  <a:srgbClr val="FFFFFF"/>
                </a:solidFill>
                <a:latin typeface="Aptos"/>
              </a:defRPr>
            </a:pPr>
            <a:r>
              <a:t>EXP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46336" y="3493008"/>
            <a:ext cx="1097280" cy="402336"/>
          </a:xfrm>
          <a:prstGeom prst="roundRect">
            <a:avLst/>
          </a:prstGeom>
          <a:solidFill>
            <a:srgbClr val="3D8B66"/>
          </a:solidFill>
          <a:ln w="10160">
            <a:solidFill>
              <a:srgbClr val="3D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46336" y="3593592"/>
            <a:ext cx="109728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80" b="1">
                <a:solidFill>
                  <a:srgbClr val="FFFFFF"/>
                </a:solidFill>
                <a:latin typeface="Aptos"/>
              </a:defRPr>
            </a:pPr>
            <a:r>
              <a:t>NORM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" y="4370832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1D252C"/>
                </a:solidFill>
                <a:latin typeface="Aptos"/>
              </a:defRPr>
            </a:pPr>
            <a:r>
              <a:t>Context 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72768" y="4261104"/>
            <a:ext cx="9464040" cy="475488"/>
          </a:xfrm>
          <a:prstGeom prst="roundRect">
            <a:avLst/>
          </a:prstGeom>
          <a:solidFill>
            <a:srgbClr val="EAEEEB"/>
          </a:solidFill>
          <a:ln w="10160">
            <a:solidFill>
              <a:srgbClr val="EA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294376" y="4297680"/>
            <a:ext cx="955547" cy="402336"/>
          </a:xfrm>
          <a:prstGeom prst="roundRect">
            <a:avLst/>
          </a:prstGeom>
          <a:solidFill>
            <a:srgbClr val="4C78A8"/>
          </a:solidFill>
          <a:ln w="10160">
            <a:solidFill>
              <a:srgbClr val="4C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94376" y="4398264"/>
            <a:ext cx="955547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80" b="1">
                <a:solidFill>
                  <a:srgbClr val="FFFFFF"/>
                </a:solidFill>
                <a:latin typeface="Aptos"/>
              </a:defRPr>
            </a:pPr>
            <a:r>
              <a:t>DMA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69964" y="4297680"/>
            <a:ext cx="1097280" cy="402336"/>
          </a:xfrm>
          <a:prstGeom prst="round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69964" y="4398264"/>
            <a:ext cx="109728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80" b="1">
                <a:solidFill>
                  <a:srgbClr val="FFFFFF"/>
                </a:solidFill>
                <a:latin typeface="Aptos"/>
              </a:defRPr>
            </a:pPr>
            <a:r>
              <a:t>MAX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45552" y="4297680"/>
            <a:ext cx="2798064" cy="402336"/>
          </a:xfrm>
          <a:prstGeom prst="roundRect">
            <a:avLst/>
          </a:prstGeom>
          <a:solidFill>
            <a:srgbClr val="C6423E"/>
          </a:solidFill>
          <a:ln w="10160">
            <a:solidFill>
              <a:srgbClr val="C6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45552" y="4398264"/>
            <a:ext cx="2798064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780" b="1">
                <a:solidFill>
                  <a:srgbClr val="FFFFFF"/>
                </a:solidFill>
                <a:latin typeface="Aptos"/>
              </a:defRPr>
            </a:pPr>
            <a:r>
              <a:t>EXP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719072" y="5285232"/>
            <a:ext cx="201168" cy="201168"/>
          </a:xfrm>
          <a:prstGeom prst="roundRect">
            <a:avLst/>
          </a:prstGeom>
          <a:solidFill>
            <a:srgbClr val="4C78A8"/>
          </a:solidFill>
          <a:ln w="10160">
            <a:solidFill>
              <a:srgbClr val="4C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93391" y="5266944"/>
            <a:ext cx="960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1D252C"/>
                </a:solidFill>
                <a:latin typeface="Aptos"/>
              </a:defRPr>
            </a:pPr>
            <a:r>
              <a:t>DMA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36391" y="5285232"/>
            <a:ext cx="201168" cy="201168"/>
          </a:xfrm>
          <a:prstGeom prst="round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10711" y="5266944"/>
            <a:ext cx="960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1D252C"/>
                </a:solidFill>
                <a:latin typeface="Aptos"/>
              </a:defRPr>
            </a:pPr>
            <a:r>
              <a:t>MAX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53712" y="5285232"/>
            <a:ext cx="201168" cy="201168"/>
          </a:xfrm>
          <a:prstGeom prst="roundRect">
            <a:avLst/>
          </a:prstGeom>
          <a:solidFill>
            <a:srgbClr val="C6423E"/>
          </a:solidFill>
          <a:ln w="10160">
            <a:solidFill>
              <a:srgbClr val="C6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28032" y="5266944"/>
            <a:ext cx="960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1D252C"/>
                </a:solidFill>
                <a:latin typeface="Aptos"/>
              </a:defRPr>
            </a:pPr>
            <a:r>
              <a:t>EXP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71032" y="5285232"/>
            <a:ext cx="201168" cy="201168"/>
          </a:xfrm>
          <a:prstGeom prst="roundRect">
            <a:avLst/>
          </a:prstGeom>
          <a:solidFill>
            <a:srgbClr val="3D8B66"/>
          </a:solidFill>
          <a:ln w="10160">
            <a:solidFill>
              <a:srgbClr val="3D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45352" y="5266944"/>
            <a:ext cx="960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1D252C"/>
                </a:solidFill>
                <a:latin typeface="Aptos"/>
              </a:defRPr>
            </a:pPr>
            <a:r>
              <a:t>NORM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88352" y="5285232"/>
            <a:ext cx="201168" cy="201168"/>
          </a:xfrm>
          <a:prstGeom prst="roundRect">
            <a:avLst/>
          </a:prstGeom>
          <a:solidFill>
            <a:srgbClr val="D99A22"/>
          </a:solidFill>
          <a:ln w="10160">
            <a:solidFill>
              <a:srgbClr val="D9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62672" y="5266944"/>
            <a:ext cx="960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1D252C"/>
                </a:solidFill>
                <a:latin typeface="Aptos"/>
              </a:defRPr>
            </a:pPr>
            <a:r>
              <a:t>OUT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0" y="5029200"/>
            <a:ext cx="21031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087E8B"/>
                </a:solidFill>
                <a:latin typeface="Aptos"/>
              </a:defRPr>
            </a:pPr>
            <a:r>
              <a:t>32.8%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9680" y="5477256"/>
            <a:ext cx="21031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637078"/>
                </a:solidFill>
                <a:latin typeface="Noto Sans CJK SC"/>
              </a:defRPr>
            </a:pPr>
            <a:r>
              <a:t>measured modeled overlap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02920" y="6291072"/>
            <a:ext cx="11155680" cy="365760"/>
          </a:xfrm>
          <a:prstGeom prst="roundRect">
            <a:avLst/>
          </a:prstGeom>
          <a:solidFill>
            <a:srgbClr val="E9ECE9"/>
          </a:solidFill>
          <a:ln w="10160">
            <a:solidFill>
              <a:srgbClr val="E9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" y="6345936"/>
            <a:ext cx="108356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1D252C"/>
                </a:solidFill>
                <a:latin typeface="Noto Sans CJK SC"/>
              </a:defRPr>
            </a:pPr>
            <a:r>
              <a:t>1024点将98,304 active cycles压缩为66,048-cycle temporal span。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0352" y="6675120"/>
            <a:ext cx="1088136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720" b="0">
                <a:solidFill>
                  <a:srgbClr val="637078"/>
                </a:solidFill>
                <a:latin typeface="Aptos"/>
              </a:defRPr>
            </a:pPr>
            <a:r>
              <a:t>Schematic is conceptual; overlap percentage comes from the fresh 1024×4096 stage statistics.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539728" y="6675120"/>
            <a:ext cx="109728" cy="2743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850" b="1">
                <a:solidFill>
                  <a:srgbClr val="087E8B"/>
                </a:solidFill>
                <a:latin typeface="Aptos"/>
              </a:defRPr>
            </a:pPr>
            <a:r>
              <a:t>NOC &amp; HBM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1D252C"/>
                </a:solidFill>
                <a:latin typeface="Noto Sans CJK SC"/>
              </a:defRPr>
            </a:pPr>
            <a:r>
              <a:t>4×4计算mesh按列连接4个HBM节点，连续band保持局部性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47472"/>
            <a:ext cx="411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63707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44752"/>
            <a:ext cx="822960" cy="566928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4C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1D252C"/>
                </a:solidFill>
                <a:latin typeface="Aptos"/>
              </a:defRPr>
            </a:pPr>
            <a:r>
              <a:t>T0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773936" y="1636776"/>
            <a:ext cx="384048" cy="164592"/>
          </a:xfrm>
          <a:prstGeom prst="rightArrow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40280" y="1444752"/>
            <a:ext cx="822960" cy="566928"/>
          </a:xfrm>
          <a:prstGeom prst="roundRect">
            <a:avLst/>
          </a:prstGeom>
          <a:solidFill>
            <a:srgbClr val="DDEFF0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162763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1D252C"/>
                </a:solidFill>
                <a:latin typeface="Aptos"/>
              </a:defRPr>
            </a:pPr>
            <a:r>
              <a:t>T1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99816" y="1636776"/>
            <a:ext cx="384048" cy="164592"/>
          </a:xfrm>
          <a:prstGeom prst="rightArrow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1444752"/>
            <a:ext cx="822960" cy="566928"/>
          </a:xfrm>
          <a:prstGeom prst="roundRect">
            <a:avLst/>
          </a:prstGeom>
          <a:solidFill>
            <a:srgbClr val="E2F0E9"/>
          </a:solidFill>
          <a:ln w="10160">
            <a:solidFill>
              <a:srgbClr val="3D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62763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1D252C"/>
                </a:solidFill>
                <a:latin typeface="Aptos"/>
              </a:defRPr>
            </a:pPr>
            <a:r>
              <a:t>T2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425696" y="1636776"/>
            <a:ext cx="384048" cy="164592"/>
          </a:xfrm>
          <a:prstGeom prst="rightArrow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92040" y="1444752"/>
            <a:ext cx="822960" cy="566928"/>
          </a:xfrm>
          <a:prstGeom prst="roundRect">
            <a:avLst/>
          </a:prstGeom>
          <a:solidFill>
            <a:srgbClr val="F7ECD1"/>
          </a:solidFill>
          <a:ln w="10160">
            <a:solidFill>
              <a:srgbClr val="D9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162763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1D252C"/>
                </a:solidFill>
                <a:latin typeface="Aptos"/>
              </a:defRPr>
            </a:pPr>
            <a:r>
              <a:t>T3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359152"/>
            <a:ext cx="822960" cy="566928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4C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54203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1D252C"/>
                </a:solidFill>
                <a:latin typeface="Aptos"/>
              </a:defRPr>
            </a:pPr>
            <a:r>
              <a:t>T4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773936" y="2551176"/>
            <a:ext cx="384048" cy="164592"/>
          </a:xfrm>
          <a:prstGeom prst="rightArrow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40280" y="2359152"/>
            <a:ext cx="822960" cy="566928"/>
          </a:xfrm>
          <a:prstGeom prst="roundRect">
            <a:avLst/>
          </a:prstGeom>
          <a:solidFill>
            <a:srgbClr val="DDEFF0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40280" y="254203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1D252C"/>
                </a:solidFill>
                <a:latin typeface="Aptos"/>
              </a:defRPr>
            </a:pPr>
            <a:r>
              <a:t>T5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099816" y="2551176"/>
            <a:ext cx="384048" cy="164592"/>
          </a:xfrm>
          <a:prstGeom prst="rightArrow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66160" y="2359152"/>
            <a:ext cx="822960" cy="566928"/>
          </a:xfrm>
          <a:prstGeom prst="roundRect">
            <a:avLst/>
          </a:prstGeom>
          <a:solidFill>
            <a:srgbClr val="E2F0E9"/>
          </a:solidFill>
          <a:ln w="10160">
            <a:solidFill>
              <a:srgbClr val="3D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254203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1D252C"/>
                </a:solidFill>
                <a:latin typeface="Aptos"/>
              </a:defRPr>
            </a:pPr>
            <a:r>
              <a:t>T6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425696" y="2551176"/>
            <a:ext cx="384048" cy="164592"/>
          </a:xfrm>
          <a:prstGeom prst="rightArrow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92040" y="2359152"/>
            <a:ext cx="822960" cy="566928"/>
          </a:xfrm>
          <a:prstGeom prst="roundRect">
            <a:avLst/>
          </a:prstGeom>
          <a:solidFill>
            <a:srgbClr val="F7ECD1"/>
          </a:solidFill>
          <a:ln w="10160">
            <a:solidFill>
              <a:srgbClr val="D9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254203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1D252C"/>
                </a:solidFill>
                <a:latin typeface="Aptos"/>
              </a:defRPr>
            </a:pPr>
            <a:r>
              <a:t>T7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3273552"/>
            <a:ext cx="822960" cy="566928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4C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45643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1D252C"/>
                </a:solidFill>
                <a:latin typeface="Aptos"/>
              </a:defRPr>
            </a:pPr>
            <a:r>
              <a:t>T8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773936" y="3465576"/>
            <a:ext cx="384048" cy="164592"/>
          </a:xfrm>
          <a:prstGeom prst="rightArrow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240280" y="3273552"/>
            <a:ext cx="822960" cy="566928"/>
          </a:xfrm>
          <a:prstGeom prst="roundRect">
            <a:avLst/>
          </a:prstGeom>
          <a:solidFill>
            <a:srgbClr val="DDEFF0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40280" y="345643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1D252C"/>
                </a:solidFill>
                <a:latin typeface="Aptos"/>
              </a:defRPr>
            </a:pPr>
            <a:r>
              <a:t>T9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099816" y="3465576"/>
            <a:ext cx="384048" cy="164592"/>
          </a:xfrm>
          <a:prstGeom prst="rightArrow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566160" y="3273552"/>
            <a:ext cx="822960" cy="566928"/>
          </a:xfrm>
          <a:prstGeom prst="roundRect">
            <a:avLst/>
          </a:prstGeom>
          <a:solidFill>
            <a:srgbClr val="E2F0E9"/>
          </a:solidFill>
          <a:ln w="10160">
            <a:solidFill>
              <a:srgbClr val="3D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0" y="345643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1D252C"/>
                </a:solidFill>
                <a:latin typeface="Aptos"/>
              </a:defRPr>
            </a:pPr>
            <a:r>
              <a:t>T10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4425696" y="3465576"/>
            <a:ext cx="384048" cy="164592"/>
          </a:xfrm>
          <a:prstGeom prst="rightArrow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892040" y="3273552"/>
            <a:ext cx="822960" cy="566928"/>
          </a:xfrm>
          <a:prstGeom prst="roundRect">
            <a:avLst/>
          </a:prstGeom>
          <a:solidFill>
            <a:srgbClr val="F7ECD1"/>
          </a:solidFill>
          <a:ln w="10160">
            <a:solidFill>
              <a:srgbClr val="D9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92040" y="345643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1D252C"/>
                </a:solidFill>
                <a:latin typeface="Aptos"/>
              </a:defRPr>
            </a:pPr>
            <a:r>
              <a:t>T11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4187952"/>
            <a:ext cx="822960" cy="566928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4C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37083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1D252C"/>
                </a:solidFill>
                <a:latin typeface="Aptos"/>
              </a:defRPr>
            </a:pPr>
            <a:r>
              <a:t>T12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773936" y="4379976"/>
            <a:ext cx="384048" cy="164592"/>
          </a:xfrm>
          <a:prstGeom prst="rightArrow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240280" y="4187952"/>
            <a:ext cx="822960" cy="566928"/>
          </a:xfrm>
          <a:prstGeom prst="roundRect">
            <a:avLst/>
          </a:prstGeom>
          <a:solidFill>
            <a:srgbClr val="DDEFF0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40280" y="437083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1D252C"/>
                </a:solidFill>
                <a:latin typeface="Aptos"/>
              </a:defRPr>
            </a:pPr>
            <a:r>
              <a:t>T13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3099816" y="4379976"/>
            <a:ext cx="384048" cy="164592"/>
          </a:xfrm>
          <a:prstGeom prst="rightArrow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566160" y="4187952"/>
            <a:ext cx="822960" cy="566928"/>
          </a:xfrm>
          <a:prstGeom prst="roundRect">
            <a:avLst/>
          </a:prstGeom>
          <a:solidFill>
            <a:srgbClr val="E2F0E9"/>
          </a:solidFill>
          <a:ln w="10160">
            <a:solidFill>
              <a:srgbClr val="3D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66160" y="437083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1D252C"/>
                </a:solidFill>
                <a:latin typeface="Aptos"/>
              </a:defRPr>
            </a:pPr>
            <a:r>
              <a:t>T14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4425696" y="4379976"/>
            <a:ext cx="384048" cy="164592"/>
          </a:xfrm>
          <a:prstGeom prst="rightArrow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892040" y="4187952"/>
            <a:ext cx="822960" cy="566928"/>
          </a:xfrm>
          <a:prstGeom prst="roundRect">
            <a:avLst/>
          </a:prstGeom>
          <a:solidFill>
            <a:srgbClr val="F7ECD1"/>
          </a:solidFill>
          <a:ln w="10160">
            <a:solidFill>
              <a:srgbClr val="D9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92040" y="437083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1D252C"/>
                </a:solidFill>
                <a:latin typeface="Aptos"/>
              </a:defRPr>
            </a:pPr>
            <a:r>
              <a:t>T15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" y="5230368"/>
            <a:ext cx="1024128" cy="512064"/>
          </a:xfrm>
          <a:prstGeom prst="roundRect">
            <a:avLst/>
          </a:prstGeom>
          <a:solidFill>
            <a:srgbClr val="4C78A8"/>
          </a:solidFill>
          <a:ln w="10160">
            <a:solidFill>
              <a:srgbClr val="4C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" y="5394960"/>
            <a:ext cx="10241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FFFFFF"/>
                </a:solidFill>
                <a:latin typeface="Aptos"/>
              </a:defRPr>
            </a:pPr>
            <a:r>
              <a:t>HBM0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30552" y="5230368"/>
            <a:ext cx="1024128" cy="512064"/>
          </a:xfrm>
          <a:prstGeom prst="round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30552" y="5394960"/>
            <a:ext cx="10241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FFFFFF"/>
                </a:solidFill>
                <a:latin typeface="Aptos"/>
              </a:defRPr>
            </a:pPr>
            <a:r>
              <a:t>HBM1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56432" y="5230368"/>
            <a:ext cx="1024128" cy="512064"/>
          </a:xfrm>
          <a:prstGeom prst="roundRect">
            <a:avLst/>
          </a:prstGeom>
          <a:solidFill>
            <a:srgbClr val="3D8B66"/>
          </a:solidFill>
          <a:ln w="10160">
            <a:solidFill>
              <a:srgbClr val="3D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56432" y="5394960"/>
            <a:ext cx="10241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FFFFFF"/>
                </a:solidFill>
                <a:latin typeface="Aptos"/>
              </a:defRPr>
            </a:pPr>
            <a:r>
              <a:t>HBM2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782312" y="5230368"/>
            <a:ext cx="1024128" cy="512064"/>
          </a:xfrm>
          <a:prstGeom prst="roundRect">
            <a:avLst/>
          </a:prstGeom>
          <a:solidFill>
            <a:srgbClr val="D99A22"/>
          </a:solidFill>
          <a:ln w="10160">
            <a:solidFill>
              <a:srgbClr val="D9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82312" y="5394960"/>
            <a:ext cx="10241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FFFFFF"/>
                </a:solidFill>
                <a:latin typeface="Aptos"/>
              </a:defRPr>
            </a:pPr>
            <a:r>
              <a:t>HBM3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37960" y="1417320"/>
            <a:ext cx="452628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537960" y="1417320"/>
            <a:ext cx="64008" cy="93268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02552" y="1527048"/>
            <a:ext cx="42336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1D252C"/>
                </a:solidFill>
                <a:latin typeface="Noto Sans CJK SC"/>
              </a:defRPr>
            </a:pPr>
            <a:r>
              <a:t>Band striping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02552" y="1892808"/>
            <a:ext cx="42336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637078"/>
                </a:solidFill>
                <a:latin typeface="Noto Sans CJK SC"/>
              </a:defRPr>
            </a:pPr>
            <a:r>
              <a:t>band = row / 64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637078"/>
                </a:solidFill>
                <a:latin typeface="Noto Sans CJK SC"/>
              </a:defRPr>
            </a:pPr>
            <a:r>
              <a:t>node = 1 + band mod 4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537960" y="2679192"/>
            <a:ext cx="452628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537960" y="2679192"/>
            <a:ext cx="64008" cy="932688"/>
          </a:xfrm>
          <a:prstGeom prst="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02552" y="2788920"/>
            <a:ext cx="42336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1D252C"/>
                </a:solidFill>
                <a:latin typeface="Noto Sans CJK SC"/>
              </a:defRPr>
            </a:pPr>
            <a:r>
              <a:t>连续地址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02552" y="3154680"/>
            <a:ext cx="42336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637078"/>
                </a:solidFill>
                <a:latin typeface="Noto Sans CJK SC"/>
              </a:defRPr>
            </a:pPr>
            <a:r>
              <a:t>每个tile的64行连续存放，支持256 KiB burst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537960" y="3941063"/>
            <a:ext cx="452628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537960" y="3941063"/>
            <a:ext cx="64008" cy="932688"/>
          </a:xfrm>
          <a:prstGeom prst="rect">
            <a:avLst/>
          </a:prstGeom>
          <a:solidFill>
            <a:srgbClr val="3D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02552" y="4050791"/>
            <a:ext cx="42336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1D252C"/>
                </a:solidFill>
                <a:latin typeface="Noto Sans CJK SC"/>
              </a:defRPr>
            </a:pPr>
            <a:r>
              <a:t>流量不复制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02552" y="4416552"/>
            <a:ext cx="42336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637078"/>
                </a:solidFill>
                <a:latin typeface="Noto Sans CJK SC"/>
              </a:defRPr>
            </a:pPr>
            <a:r>
              <a:t>input/output各16 MiB，四节点分担backend压力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2920" y="6291072"/>
            <a:ext cx="11155680" cy="365760"/>
          </a:xfrm>
          <a:prstGeom prst="roundRect">
            <a:avLst/>
          </a:prstGeom>
          <a:solidFill>
            <a:srgbClr val="E9ECE9"/>
          </a:solidFill>
          <a:ln w="10160">
            <a:solidFill>
              <a:srgbClr val="E9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8368" y="6345936"/>
            <a:ext cx="108356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1D252C"/>
                </a:solidFill>
                <a:latin typeface="Noto Sans CJK SC"/>
              </a:defRPr>
            </a:pPr>
            <a:r>
              <a:t>HBM striping是带宽约束下的必要结构，而不是单纯增加NoC峰值参数。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0352" y="6675120"/>
            <a:ext cx="1088136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720" b="0">
                <a:solidFill>
                  <a:srgbClr val="637078"/>
                </a:solidFill>
                <a:latin typeface="Aptos"/>
              </a:defRPr>
            </a:pPr>
            <a:r>
              <a:t>Source: architecture design §8; implementation uses contiguous tile-band layout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539728" y="6675120"/>
            <a:ext cx="109728" cy="2743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850" b="1">
                <a:solidFill>
                  <a:srgbClr val="087E8B"/>
                </a:solidFill>
                <a:latin typeface="Aptos"/>
              </a:defRPr>
            </a:pPr>
            <a:r>
              <a:t>CONTROL &amp; ABI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1D252C"/>
                </a:solidFill>
                <a:latin typeface="Noto Sans CJK SC"/>
              </a:defRPr>
            </a:pPr>
            <a:r>
              <a:t>完成通知由DMA ACK驱动，guest wait不再推进硬件状态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47472"/>
            <a:ext cx="411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63707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874519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4C78A8"/>
                </a:solidFill>
                <a:latin typeface="Aptos"/>
              </a:defRPr>
            </a:pPr>
            <a:r>
              <a:t>Vanadis guest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700784"/>
            <a:ext cx="10972" cy="3931920"/>
          </a:xfrm>
          <a:prstGeom prst="rect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16352" y="1298448"/>
            <a:ext cx="1874519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087E8B"/>
                </a:solidFill>
                <a:latin typeface="Aptos"/>
              </a:defRPr>
            </a:pPr>
            <a:r>
              <a:t>RoCC / SFU</a:t>
            </a:r>
          </a:p>
        </p:txBody>
      </p:sp>
      <p:sp>
        <p:nvSpPr>
          <p:cNvPr id="9" name="Rectangle 8"/>
          <p:cNvSpPr/>
          <p:nvPr/>
        </p:nvSpPr>
        <p:spPr>
          <a:xfrm>
            <a:off x="3730752" y="1700784"/>
            <a:ext cx="10972" cy="3931920"/>
          </a:xfrm>
          <a:prstGeom prst="rect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9783" y="1298448"/>
            <a:ext cx="1874519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3D8B66"/>
                </a:solidFill>
                <a:latin typeface="Aptos"/>
              </a:defRPr>
            </a:pPr>
            <a:r>
              <a:t>Job Controller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44183" y="1700784"/>
            <a:ext cx="10972" cy="3931920"/>
          </a:xfrm>
          <a:prstGeom prst="rect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43216" y="1298448"/>
            <a:ext cx="1874519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C6423E"/>
                </a:solidFill>
                <a:latin typeface="Aptos"/>
              </a:defRPr>
            </a:pPr>
            <a:r>
              <a:t>16 Row Engines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57616" y="1700784"/>
            <a:ext cx="10972" cy="3931920"/>
          </a:xfrm>
          <a:prstGeom prst="rect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56648" y="1298448"/>
            <a:ext cx="1874519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D99A22"/>
                </a:solidFill>
                <a:latin typeface="Aptos"/>
              </a:defRPr>
            </a:pPr>
            <a:r>
              <a:t>HBM / NoC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71048" y="1700784"/>
            <a:ext cx="10972" cy="3931920"/>
          </a:xfrm>
          <a:prstGeom prst="rect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1417320" y="1874519"/>
            <a:ext cx="2221992" cy="182880"/>
          </a:xfrm>
          <a:prstGeom prst="rightArrow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1627631"/>
            <a:ext cx="213055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1D252C"/>
                </a:solidFill>
                <a:latin typeface="Aptos"/>
              </a:defRPr>
            </a:pPr>
            <a:r>
              <a:t>128-B desc + 64-B params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730752" y="2487168"/>
            <a:ext cx="2221991" cy="182880"/>
          </a:xfrm>
          <a:prstGeom prst="rightArrow">
            <a:avLst/>
          </a:prstGeom>
          <a:solidFill>
            <a:srgbClr val="3D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22191" y="2240280"/>
            <a:ext cx="213055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1D252C"/>
                </a:solidFill>
                <a:latin typeface="Aptos"/>
              </a:defRPr>
            </a:pPr>
            <a:r>
              <a:t>accept / decode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44183" y="3099816"/>
            <a:ext cx="2221992" cy="182880"/>
          </a:xfrm>
          <a:prstGeom prst="rightArrow">
            <a:avLst/>
          </a:prstGeom>
          <a:solidFill>
            <a:srgbClr val="C6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5623" y="2852928"/>
            <a:ext cx="213055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1D252C"/>
                </a:solidFill>
                <a:latin typeface="Aptos"/>
              </a:defRPr>
            </a:pPr>
            <a:r>
              <a:t>16 band dispatches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357616" y="3712463"/>
            <a:ext cx="2221991" cy="182880"/>
          </a:xfrm>
          <a:prstGeom prst="rightArrow">
            <a:avLst/>
          </a:prstGeom>
          <a:solidFill>
            <a:srgbClr val="D9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9056" y="3465575"/>
            <a:ext cx="213055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1D252C"/>
                </a:solidFill>
                <a:latin typeface="Aptos"/>
              </a:defRPr>
            </a:pPr>
            <a:r>
              <a:t>64 input + 64 output DMA</a:t>
            </a:r>
          </a:p>
        </p:txBody>
      </p:sp>
      <p:sp>
        <p:nvSpPr>
          <p:cNvPr id="24" name="Left Arrow 23"/>
          <p:cNvSpPr/>
          <p:nvPr/>
        </p:nvSpPr>
        <p:spPr>
          <a:xfrm>
            <a:off x="8449056" y="4325112"/>
            <a:ext cx="2221991" cy="182880"/>
          </a:xfrm>
          <a:prstGeom prst="leftArrow">
            <a:avLst/>
          </a:prstGeom>
          <a:solidFill>
            <a:srgbClr val="C6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9056" y="4078224"/>
            <a:ext cx="213055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1D252C"/>
                </a:solidFill>
                <a:latin typeface="Aptos"/>
              </a:defRPr>
            </a:pPr>
            <a:r>
              <a:t>output ACK</a:t>
            </a:r>
          </a:p>
        </p:txBody>
      </p:sp>
      <p:sp>
        <p:nvSpPr>
          <p:cNvPr id="26" name="Left Arrow 25"/>
          <p:cNvSpPr/>
          <p:nvPr/>
        </p:nvSpPr>
        <p:spPr>
          <a:xfrm>
            <a:off x="6135623" y="4846320"/>
            <a:ext cx="2221992" cy="182880"/>
          </a:xfrm>
          <a:prstGeom prst="leftArrow">
            <a:avLst/>
          </a:prstGeom>
          <a:solidFill>
            <a:srgbClr val="3D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3" y="4599431"/>
            <a:ext cx="213055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1D252C"/>
                </a:solidFill>
                <a:latin typeface="Aptos"/>
              </a:defRPr>
            </a:pPr>
            <a:r>
              <a:t>16 completion messages</a:t>
            </a:r>
          </a:p>
        </p:txBody>
      </p:sp>
      <p:sp>
        <p:nvSpPr>
          <p:cNvPr id="28" name="Left Arrow 27"/>
          <p:cNvSpPr/>
          <p:nvPr/>
        </p:nvSpPr>
        <p:spPr>
          <a:xfrm>
            <a:off x="1508760" y="5367528"/>
            <a:ext cx="4535424" cy="182880"/>
          </a:xfrm>
          <a:prstGeom prst="leftArrow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08760" y="5120640"/>
            <a:ext cx="4443983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50" b="1">
                <a:solidFill>
                  <a:srgbClr val="1D252C"/>
                </a:solidFill>
                <a:latin typeface="Aptos"/>
              </a:defRPr>
            </a:pPr>
            <a:r>
              <a:t>single tensor completion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6291072"/>
            <a:ext cx="11155680" cy="365760"/>
          </a:xfrm>
          <a:prstGeom prst="roundRect">
            <a:avLst/>
          </a:prstGeom>
          <a:solidFill>
            <a:srgbClr val="E9ECE9"/>
          </a:solidFill>
          <a:ln w="10160">
            <a:solidFill>
              <a:srgbClr val="E9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45936"/>
            <a:ext cx="108356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1D252C"/>
                </a:solidFill>
                <a:latin typeface="Noto Sans CJK SC"/>
              </a:defRPr>
            </a:pPr>
            <a:r>
              <a:t>descriptor acceptance到最后output ACK为17,565 cycles；完成语义不依赖固定延迟。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675120"/>
            <a:ext cx="1088136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720" b="0">
                <a:solidFill>
                  <a:srgbClr val="637078"/>
                </a:solidFill>
                <a:latin typeface="Aptos"/>
              </a:defRPr>
            </a:pPr>
            <a:r>
              <a:t>Source: SFUSoftmaxJobParamsV1 ABI and fresh tensor-controller timeline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39728" y="6675120"/>
            <a:ext cx="109728" cy="2743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850" b="1">
                <a:solidFill>
                  <a:srgbClr val="087E8B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1D252C"/>
                </a:solidFill>
                <a:latin typeface="Noto Sans CJK SC"/>
              </a:defRPr>
            </a:pPr>
            <a:r>
              <a:t>测试同时约束功能正确性、生命周期和周期口径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47472"/>
            <a:ext cx="411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63707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89888"/>
            <a:ext cx="3429000" cy="1444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89888"/>
            <a:ext cx="64008" cy="1444752"/>
          </a:xfrm>
          <a:prstGeom prst="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99616"/>
            <a:ext cx="31363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D252C"/>
                </a:solidFill>
                <a:latin typeface="Noto Sans CJK SC"/>
              </a:defRPr>
            </a:pPr>
            <a:r>
              <a:t>Workload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65376"/>
            <a:ext cx="3136392" cy="8778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637078"/>
                </a:solidFill>
                <a:latin typeface="Noto Sans CJK SC"/>
              </a:defRPr>
            </a:pPr>
            <a:r>
              <a:t>FP32 row-wise Softmax</a:t>
            </a:r>
          </a:p>
          <a:p>
            <a:pPr algn="l">
              <a:lnSpc>
                <a:spcPct val="100000"/>
              </a:lnSpc>
              <a:defRPr sz="1200" b="0">
                <a:solidFill>
                  <a:srgbClr val="637078"/>
                </a:solidFill>
                <a:latin typeface="Noto Sans CJK SC"/>
              </a:defRPr>
            </a:pPr>
            <a:r>
              <a:t>1024 × 4096</a:t>
            </a:r>
          </a:p>
          <a:p>
            <a:pPr algn="l">
              <a:lnSpc>
                <a:spcPct val="100000"/>
              </a:lnSpc>
              <a:defRPr sz="1200" b="0">
                <a:solidFill>
                  <a:srgbClr val="637078"/>
                </a:solidFill>
                <a:latin typeface="Noto Sans CJK SC"/>
              </a:defRPr>
            </a:pPr>
            <a:r>
              <a:t>4,194,304 elements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89888"/>
            <a:ext cx="3429000" cy="1444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89888"/>
            <a:ext cx="64008" cy="144475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499616"/>
            <a:ext cx="31363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D252C"/>
                </a:solidFill>
                <a:latin typeface="Noto Sans CJK SC"/>
              </a:defRPr>
            </a:pPr>
            <a:r>
              <a:t>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865376"/>
            <a:ext cx="3136392" cy="8778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  <a:r>
              <a:t>16 physical SFUs · 4 contexts</a:t>
            </a:r>
          </a:p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  <a:r>
              <a:t>16 vector lanes · 4 EXP lanes</a:t>
            </a:r>
          </a:p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  <a:r>
              <a:t>64 KiB scratchpad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389888"/>
            <a:ext cx="3429000" cy="1444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389888"/>
            <a:ext cx="64008" cy="1444752"/>
          </a:xfrm>
          <a:prstGeom prst="rect">
            <a:avLst/>
          </a:prstGeom>
          <a:solidFill>
            <a:srgbClr val="3D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499616"/>
            <a:ext cx="31363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D252C"/>
                </a:solidFill>
                <a:latin typeface="Noto Sans CJK SC"/>
              </a:defRPr>
            </a:pPr>
            <a:r>
              <a:t>Fabric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1865376"/>
            <a:ext cx="3136392" cy="8778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  <a:r>
              <a:t>4×4 compute mesh · 4 HBM nodes</a:t>
            </a:r>
          </a:p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  <a:r>
              <a:t>1200 GB/s link/xbar</a:t>
            </a:r>
          </a:p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  <a:r>
              <a:t>256 KiB DMA burst · 2.3 GHz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383280"/>
            <a:ext cx="2359152" cy="1417320"/>
          </a:xfrm>
          <a:prstGeom prst="roundRect">
            <a:avLst/>
          </a:prstGeom>
          <a:solidFill>
            <a:srgbClr val="EDEFEA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6393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3D8B66"/>
                </a:solidFill>
                <a:latin typeface="Aptos"/>
              </a:defRPr>
            </a:pPr>
            <a:r>
              <a:t>Golden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069080"/>
            <a:ext cx="2084831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637078"/>
                </a:solidFill>
                <a:latin typeface="Aptos"/>
              </a:defRPr>
            </a:pPr>
            <a:r>
              <a:t>4,194,304 checked</a:t>
            </a:r>
          </a:p>
          <a:p>
            <a:pPr algn="ctr">
              <a:lnSpc>
                <a:spcPct val="100000"/>
              </a:lnSpc>
              <a:defRPr sz="1000" b="0">
                <a:solidFill>
                  <a:srgbClr val="637078"/>
                </a:solidFill>
                <a:latin typeface="Aptos"/>
              </a:defRPr>
            </a:pPr>
            <a:r>
              <a:t>0 mismatch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47287" y="3383280"/>
            <a:ext cx="2359152" cy="1417320"/>
          </a:xfrm>
          <a:prstGeom prst="roundRect">
            <a:avLst/>
          </a:prstGeom>
          <a:solidFill>
            <a:srgbClr val="EDEFEA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84447" y="36393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087E8B"/>
                </a:solidFill>
                <a:latin typeface="Aptos"/>
              </a:defRPr>
            </a:pPr>
            <a:r>
              <a:t>Lifecycle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7" y="4069080"/>
            <a:ext cx="2084831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637078"/>
                </a:solidFill>
                <a:latin typeface="Aptos"/>
              </a:defRPr>
            </a:pPr>
            <a:r>
              <a:t>1 job · 1024 rows</a:t>
            </a:r>
          </a:p>
          <a:p>
            <a:pPr algn="ctr">
              <a:lnSpc>
                <a:spcPct val="100000"/>
              </a:lnSpc>
              <a:defRPr sz="1000" b="0">
                <a:solidFill>
                  <a:srgbClr val="637078"/>
                </a:solidFill>
                <a:latin typeface="Aptos"/>
              </a:defRPr>
            </a:pPr>
            <a:r>
              <a:t>64 DMA pairs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7" y="3383280"/>
            <a:ext cx="2359152" cy="1417320"/>
          </a:xfrm>
          <a:prstGeom prst="roundRect">
            <a:avLst/>
          </a:prstGeom>
          <a:solidFill>
            <a:srgbClr val="EDEFEA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36393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4C78A8"/>
                </a:solidFill>
                <a:latin typeface="Aptos"/>
              </a:defRPr>
            </a:pPr>
            <a:r>
              <a:t>Errors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4069080"/>
            <a:ext cx="2084831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637078"/>
                </a:solidFill>
                <a:latin typeface="Aptos"/>
              </a:defRPr>
            </a:pPr>
            <a:r>
              <a:t>0 retry / stale</a:t>
            </a:r>
          </a:p>
          <a:p>
            <a:pPr algn="ctr">
              <a:lnSpc>
                <a:spcPct val="100000"/>
              </a:lnSpc>
              <a:defRPr sz="1000" b="0">
                <a:solidFill>
                  <a:srgbClr val="637078"/>
                </a:solidFill>
                <a:latin typeface="Aptos"/>
              </a:defRPr>
            </a:pPr>
            <a:r>
              <a:t>0 reduction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25128" y="3383280"/>
            <a:ext cx="2359152" cy="1417320"/>
          </a:xfrm>
          <a:prstGeom prst="roundRect">
            <a:avLst/>
          </a:prstGeom>
          <a:solidFill>
            <a:srgbClr val="EDEFEA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36393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D99A22"/>
                </a:solidFill>
                <a:latin typeface="Aptos"/>
              </a:defRPr>
            </a:pPr>
            <a:r>
              <a:t>Timing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4069080"/>
            <a:ext cx="2084831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000" b="0">
                <a:solidFill>
                  <a:srgbClr val="637078"/>
                </a:solidFill>
                <a:latin typeface="Aptos"/>
              </a:defRPr>
            </a:pPr>
            <a:r>
              <a:t>SST ticks + Vanadis rdcycle</a:t>
            </a:r>
          </a:p>
          <a:p>
            <a:pPr algn="ctr">
              <a:lnSpc>
                <a:spcPct val="100000"/>
              </a:lnSpc>
              <a:defRPr sz="1000" b="0">
                <a:solidFill>
                  <a:srgbClr val="637078"/>
                </a:solidFill>
                <a:latin typeface="Aptos"/>
              </a:defRPr>
            </a:pPr>
            <a:r>
              <a:t>separate contracts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138928"/>
            <a:ext cx="24688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087E8B"/>
                </a:solidFill>
                <a:latin typeface="Aptos"/>
              </a:defRPr>
            </a:pPr>
            <a:r>
              <a:t>66 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586984"/>
            <a:ext cx="24688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637078"/>
                </a:solidFill>
                <a:latin typeface="Noto Sans CJK SC"/>
              </a:defRPr>
            </a:pPr>
            <a:r>
              <a:t>focused unit/contract suite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5138928"/>
            <a:ext cx="24688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4C78A8"/>
                </a:solidFill>
                <a:latin typeface="Aptos"/>
              </a:defRPr>
            </a:pPr>
            <a:r>
              <a:t>4 shapes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5586984"/>
            <a:ext cx="24688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637078"/>
                </a:solidFill>
                <a:latin typeface="Noto Sans CJK SC"/>
              </a:defRPr>
            </a:pPr>
            <a:r>
              <a:t>16 / 64 / 256 / 1024 rows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138928"/>
            <a:ext cx="24688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3D8B66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5586984"/>
            <a:ext cx="24688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637078"/>
                </a:solidFill>
                <a:latin typeface="Noto Sans CJK SC"/>
              </a:defRPr>
            </a:pPr>
            <a:r>
              <a:t>fresh build + diff + parser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291072"/>
            <a:ext cx="11155680" cy="365760"/>
          </a:xfrm>
          <a:prstGeom prst="roundRect">
            <a:avLst/>
          </a:prstGeom>
          <a:solidFill>
            <a:srgbClr val="E9ECE9"/>
          </a:solidFill>
          <a:ln w="10160">
            <a:solidFill>
              <a:srgbClr val="E9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45936"/>
            <a:ext cx="108356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1D252C"/>
                </a:solidFill>
                <a:latin typeface="Noto Sans CJK SC"/>
              </a:defRPr>
            </a:pPr>
            <a:r>
              <a:t>任何cycle结果只有在golden、事件计数和completion contract同时通过时才被接受。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6675120"/>
            <a:ext cx="1088136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720" b="0">
                <a:solidFill>
                  <a:srgbClr val="637078"/>
                </a:solidFill>
                <a:latin typeface="Aptos"/>
              </a:defRPr>
            </a:pPr>
            <a:r>
              <a:t>Source: muticore_softmax runner, parser and fresh 2026-07-21 artifacts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539728" y="6675120"/>
            <a:ext cx="109728" cy="2743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850" b="1">
                <a:solidFill>
                  <a:srgbClr val="087E8B"/>
                </a:solidFill>
                <a:latin typeface="Aptos"/>
              </a:defRPr>
            </a:pPr>
            <a:r>
              <a:t>KEY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1D252C"/>
                </a:solidFill>
                <a:latin typeface="Noto Sans CJK SC"/>
              </a:defRPr>
            </a:pPr>
            <a:r>
              <a:t>三个负实验排除了“加worker、改burst、去polling”三条伪瓶颈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47472"/>
            <a:ext cx="411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63707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53312"/>
            <a:ext cx="3401568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64008" cy="3566160"/>
          </a:xfrm>
          <a:prstGeom prst="rect">
            <a:avLst/>
          </a:prstGeom>
          <a:solidFill>
            <a:srgbClr val="C6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63040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D252C"/>
                </a:solidFill>
                <a:latin typeface="Noto Sans CJK SC"/>
              </a:defRPr>
            </a:pPr>
            <a:r>
              <a:t>A · Workers per 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28800"/>
            <a:ext cx="3108960" cy="2999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  <a:r>
              <a:t>16×4096 simulated time</a:t>
            </a:r>
          </a:p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</a:p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  <a:r>
              <a:t>4 workers   422.0 μs</a:t>
            </a:r>
          </a:p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  <a:r>
              <a:t>8 workers   423.4 μs</a:t>
            </a:r>
          </a:p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  <a:r>
              <a:t>16 workers  427.1 μs</a:t>
            </a:r>
          </a:p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</a:p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  <a:r>
              <a:t>更多worker增加fan-in，没有加速。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53312"/>
            <a:ext cx="3401568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53312"/>
            <a:ext cx="64008" cy="3566160"/>
          </a:xfrm>
          <a:prstGeom prst="rect">
            <a:avLst/>
          </a:prstGeom>
          <a:solidFill>
            <a:srgbClr val="D9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463040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D252C"/>
                </a:solidFill>
                <a:latin typeface="Noto Sans CJK SC"/>
              </a:defRPr>
            </a:pPr>
            <a:r>
              <a:t>B · DMA burst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828800"/>
            <a:ext cx="3108960" cy="2999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  <a:r>
              <a:t>1024×4096 issue-to-completion</a:t>
            </a:r>
          </a:p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</a:p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  <a:r>
              <a:t>256 KiB  357,385 cycles</a:t>
            </a:r>
          </a:p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  <a:r>
              <a:t>64 KiB    365,093 cycles</a:t>
            </a:r>
          </a:p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</a:p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  <a:r>
              <a:t>64 KiB虽减少NoC stall，却让主指标回退。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353312"/>
            <a:ext cx="3401568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353312"/>
            <a:ext cx="64008" cy="3566160"/>
          </a:xfrm>
          <a:prstGeom prst="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463040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D252C"/>
                </a:solidFill>
                <a:latin typeface="Noto Sans CJK SC"/>
              </a:defRPr>
            </a:pPr>
            <a:r>
              <a:t>C · Wait polling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1828800"/>
            <a:ext cx="3108960" cy="2999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  <a:r>
              <a:t>compatibility polls</a:t>
            </a:r>
          </a:p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</a:p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  <a:r>
              <a:t>1,056,100 → 0</a:t>
            </a:r>
          </a:p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  <a:r>
              <a:t>cycle仍为357,385</a:t>
            </a:r>
          </a:p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</a:p>
          <a:p>
            <a:pPr algn="l">
              <a:lnSpc>
                <a:spcPct val="100000"/>
              </a:lnSpc>
              <a:defRPr sz="1150" b="0">
                <a:solidFill>
                  <a:srgbClr val="637078"/>
                </a:solidFill>
                <a:latin typeface="Noto Sans CJK SC"/>
              </a:defRPr>
            </a:pPr>
            <a:r>
              <a:t>Polling影响simulation开销，但不是架构关键路径。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294376"/>
            <a:ext cx="10332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500" b="1">
                <a:solidFill>
                  <a:srgbClr val="1D252C"/>
                </a:solidFill>
                <a:latin typeface="Noto Sans CJK SC"/>
              </a:defRPr>
            </a:pPr>
            <a:r>
              <a:t>证据驱动的结论：必须改变row scheduling和tensor-level control，而不是继续调外围参数。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6291072"/>
            <a:ext cx="11155680" cy="365760"/>
          </a:xfrm>
          <a:prstGeom prst="roundRect">
            <a:avLst/>
          </a:prstGeom>
          <a:solidFill>
            <a:srgbClr val="F7ECD1"/>
          </a:solidFill>
          <a:ln w="10160">
            <a:solidFill>
              <a:srgbClr val="F7E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45936"/>
            <a:ext cx="108356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1D252C"/>
                </a:solidFill>
                <a:latin typeface="Noto Sans CJK SC"/>
              </a:defRPr>
            </a:pPr>
            <a:r>
              <a:t>负实验帮助把优化方向从参数DSE收敛到架构重构。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675120"/>
            <a:ext cx="1088136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720" b="0">
                <a:solidFill>
                  <a:srgbClr val="637078"/>
                </a:solidFill>
                <a:latin typeface="Aptos"/>
              </a:defRPr>
            </a:pPr>
            <a:r>
              <a:t>Source: durable findings; Row Engine v2 controlled experiments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539728" y="6675120"/>
            <a:ext cx="109728" cy="2743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850" b="1">
                <a:solidFill>
                  <a:srgbClr val="087E8B"/>
                </a:solidFill>
                <a:latin typeface="Aptos"/>
              </a:defRPr>
            </a:pPr>
            <a:r>
              <a:t>TARGET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1D252C"/>
                </a:solidFill>
                <a:latin typeface="Noto Sans CJK SC"/>
              </a:defRPr>
            </a:pPr>
            <a:r>
              <a:t>最终路径已由NoC/DMA受限转为Row Engine计算模型受限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47472"/>
            <a:ext cx="411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63707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1920240"/>
            <a:ext cx="10012680" cy="54864"/>
          </a:xfrm>
          <a:prstGeom prst="rect">
            <a:avLst/>
          </a:prstGeom>
          <a:solidFill>
            <a:srgbClr val="D8DDDA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801368"/>
            <a:ext cx="45720" cy="292608"/>
          </a:xfrm>
          <a:prstGeom prst="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16002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850" b="1">
                <a:solidFill>
                  <a:srgbClr val="087E8B"/>
                </a:solidFill>
                <a:latin typeface="Aptos"/>
              </a:defRPr>
            </a:pPr>
            <a:r>
              <a:t>descriptor accepted</a:t>
            </a:r>
          </a:p>
          <a:p>
            <a:pPr algn="l">
              <a:lnSpc>
                <a:spcPct val="100000"/>
              </a:lnSpc>
              <a:defRPr sz="850" b="1">
                <a:solidFill>
                  <a:srgbClr val="087E8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22357" y="1801368"/>
            <a:ext cx="45720" cy="292608"/>
          </a:xfrm>
          <a:prstGeom prst="rect">
            <a:avLst/>
          </a:prstGeom>
          <a:solidFill>
            <a:srgbClr val="D99A22"/>
          </a:solidFill>
          <a:ln w="10160">
            <a:solidFill>
              <a:srgbClr val="D9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2357" y="2121408"/>
            <a:ext cx="16002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850" b="1">
                <a:solidFill>
                  <a:srgbClr val="D99A22"/>
                </a:solidFill>
                <a:latin typeface="Aptos"/>
              </a:defRPr>
            </a:pPr>
            <a:r>
              <a:t>final ACK / completion</a:t>
            </a:r>
          </a:p>
          <a:p>
            <a:pPr algn="l">
              <a:lnSpc>
                <a:spcPct val="100000"/>
              </a:lnSpc>
              <a:defRPr sz="850" b="1">
                <a:solidFill>
                  <a:srgbClr val="D99A22"/>
                </a:solidFill>
                <a:latin typeface="Aptos"/>
              </a:defRPr>
            </a:pPr>
            <a:r>
              <a:t>17,565 / 17,612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0" y="1801368"/>
            <a:ext cx="45720" cy="292608"/>
          </a:xfrm>
          <a:prstGeom prst="rect">
            <a:avLst/>
          </a:prstGeom>
          <a:solidFill>
            <a:srgbClr val="C6423E"/>
          </a:solidFill>
          <a:ln w="10160">
            <a:solidFill>
              <a:srgbClr val="C6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2121408"/>
            <a:ext cx="16002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850" b="1">
                <a:solidFill>
                  <a:srgbClr val="C6423E"/>
                </a:solidFill>
                <a:latin typeface="Aptos"/>
              </a:defRPr>
            </a:pPr>
            <a:r>
              <a:t>modeled ready</a:t>
            </a:r>
          </a:p>
          <a:p>
            <a:pPr algn="r">
              <a:lnSpc>
                <a:spcPct val="100000"/>
              </a:lnSpc>
              <a:defRPr sz="850" b="1">
                <a:solidFill>
                  <a:srgbClr val="C6423E"/>
                </a:solidFill>
                <a:latin typeface="Aptos"/>
              </a:defRPr>
            </a:pPr>
            <a:r>
              <a:t>66,062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218688"/>
            <a:ext cx="10012680" cy="365760"/>
          </a:xfrm>
          <a:prstGeom prst="roundRect">
            <a:avLst/>
          </a:prstGeom>
          <a:solidFill>
            <a:srgbClr val="E5E8E6"/>
          </a:solidFill>
          <a:ln w="10160">
            <a:solidFill>
              <a:srgbClr val="E5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" y="3218688"/>
            <a:ext cx="2662237" cy="365760"/>
          </a:xfrm>
          <a:prstGeom prst="roundRect">
            <a:avLst/>
          </a:prstGeom>
          <a:solidFill>
            <a:srgbClr val="D99A22"/>
          </a:solidFill>
          <a:ln w="10160">
            <a:solidFill>
              <a:srgbClr val="D9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580735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1D252C"/>
                </a:solidFill>
                <a:latin typeface="Noto Sans CJK SC"/>
              </a:defRPr>
            </a:pPr>
            <a:r>
              <a:t>Descriptor → final output DMA 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7474" y="2944368"/>
            <a:ext cx="4205325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1050" b="1">
                <a:solidFill>
                  <a:srgbClr val="D99A22"/>
                </a:solidFill>
                <a:latin typeface="Aptos"/>
              </a:defRPr>
            </a:pPr>
            <a:r>
              <a:t>17,565 cycles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050791"/>
            <a:ext cx="10012680" cy="365760"/>
          </a:xfrm>
          <a:prstGeom prst="roundRect">
            <a:avLst/>
          </a:prstGeom>
          <a:solidFill>
            <a:srgbClr val="E5E8E6"/>
          </a:solidFill>
          <a:ln w="10160">
            <a:solidFill>
              <a:srgbClr val="E5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4050791"/>
            <a:ext cx="10012680" cy="365760"/>
          </a:xfrm>
          <a:prstGeom prst="roundRect">
            <a:avLst/>
          </a:prstGeom>
          <a:solidFill>
            <a:srgbClr val="C6423E"/>
          </a:solidFill>
          <a:ln w="10160">
            <a:solidFill>
              <a:srgbClr val="C6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776472"/>
            <a:ext cx="580735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1D252C"/>
                </a:solidFill>
                <a:latin typeface="Noto Sans CJK SC"/>
              </a:defRPr>
            </a:pPr>
            <a:r>
              <a:t>Descriptor → modeled compute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7474" y="3776472"/>
            <a:ext cx="4205325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1050" b="1">
                <a:solidFill>
                  <a:srgbClr val="C6423E"/>
                </a:solidFill>
                <a:latin typeface="Aptos"/>
              </a:defRPr>
            </a:pPr>
            <a:r>
              <a:t>66,062 cycles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882896"/>
            <a:ext cx="10012680" cy="365760"/>
          </a:xfrm>
          <a:prstGeom prst="roundRect">
            <a:avLst/>
          </a:prstGeom>
          <a:solidFill>
            <a:srgbClr val="E5E8E6"/>
          </a:solidFill>
          <a:ln w="10160">
            <a:solidFill>
              <a:srgbClr val="E5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" y="4882896"/>
            <a:ext cx="969712" cy="365760"/>
          </a:xfrm>
          <a:prstGeom prst="roundRect">
            <a:avLst/>
          </a:prstGeom>
          <a:solidFill>
            <a:srgbClr val="4C78A8"/>
          </a:solidFill>
          <a:ln w="10160">
            <a:solidFill>
              <a:srgbClr val="4C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608576"/>
            <a:ext cx="580735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1D252C"/>
                </a:solidFill>
                <a:latin typeface="Noto Sans CJK SC"/>
              </a:defRPr>
            </a:pPr>
            <a:r>
              <a:t>Clean guest pre-accept setup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7474" y="4608576"/>
            <a:ext cx="4205325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1050" b="1">
                <a:solidFill>
                  <a:srgbClr val="4C78A8"/>
                </a:solidFill>
                <a:latin typeface="Aptos"/>
              </a:defRPr>
            </a:pPr>
            <a:r>
              <a:t>6,398 cycles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5504688"/>
            <a:ext cx="2011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C6423E"/>
                </a:solidFill>
                <a:latin typeface="Aptos"/>
              </a:defRPr>
            </a:pPr>
            <a:r>
              <a:t>3.76×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5952744"/>
            <a:ext cx="2011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637078"/>
                </a:solidFill>
                <a:latin typeface="Noto Sans CJK SC"/>
              </a:defRPr>
            </a:pPr>
            <a:r>
              <a:t>compute / DMA interval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6291072"/>
            <a:ext cx="11155680" cy="365760"/>
          </a:xfrm>
          <a:prstGeom prst="roundRect">
            <a:avLst/>
          </a:prstGeom>
          <a:solidFill>
            <a:srgbClr val="F5E3E1"/>
          </a:solidFill>
          <a:ln w="10160">
            <a:solidFill>
              <a:srgbClr val="F5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345936"/>
            <a:ext cx="108356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C6423E"/>
                </a:solidFill>
                <a:latin typeface="Noto Sans CJK SC"/>
              </a:defRPr>
            </a:pPr>
            <a:r>
              <a:t>所有output ACK在17.6k cycles内完成；66.1k关键路径来自当前4-lane EXP吞吐模型。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6675120"/>
            <a:ext cx="1088136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720" b="0">
                <a:solidFill>
                  <a:srgbClr val="637078"/>
                </a:solidFill>
                <a:latin typeface="Aptos"/>
              </a:defRPr>
            </a:pPr>
            <a:r>
              <a:t>Fresh 1024×4096 timeline: muticore_softmax_clean_kernel_r1024_d4096_stage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539728" y="6675120"/>
            <a:ext cx="109728" cy="2743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850" b="1">
                <a:solidFill>
                  <a:srgbClr val="087E8B"/>
                </a:solidFill>
                <a:latin typeface="Aptos"/>
              </a:defRPr>
            </a:pPr>
            <a:r>
              <a:t>SHAPE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1D252C"/>
                </a:solidFill>
                <a:latin typeface="Noto Sans CJK SC"/>
              </a:defRPr>
            </a:pPr>
            <a:r>
              <a:t>固定架构下周期随行数稳定增长，模型与观测只差1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47472"/>
            <a:ext cx="411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637078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5532120"/>
            <a:ext cx="7726679" cy="10972"/>
          </a:xfrm>
          <a:prstGeom prst="rect">
            <a:avLst/>
          </a:prstGeom>
          <a:solidFill>
            <a:srgbClr val="D8DDDA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422392"/>
            <a:ext cx="32918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637078"/>
                </a:solidFill>
                <a:latin typeface="Aptos"/>
              </a:defRPr>
            </a:pPr>
            <a:r>
              <a:t>0k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382947"/>
            <a:ext cx="7726679" cy="10972"/>
          </a:xfrm>
          <a:prstGeom prst="rect">
            <a:avLst/>
          </a:prstGeom>
          <a:solidFill>
            <a:srgbClr val="D8DDDA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73219"/>
            <a:ext cx="32918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637078"/>
                </a:solidFill>
                <a:latin typeface="Aptos"/>
              </a:defRPr>
            </a:pPr>
            <a:r>
              <a:t>20k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233775"/>
            <a:ext cx="7726679" cy="10972"/>
          </a:xfrm>
          <a:prstGeom prst="rect">
            <a:avLst/>
          </a:prstGeom>
          <a:solidFill>
            <a:srgbClr val="D8DDDA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124047"/>
            <a:ext cx="32918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637078"/>
                </a:solidFill>
                <a:latin typeface="Aptos"/>
              </a:defRPr>
            </a:pPr>
            <a:r>
              <a:t>40k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084603"/>
            <a:ext cx="7726679" cy="10972"/>
          </a:xfrm>
          <a:prstGeom prst="rect">
            <a:avLst/>
          </a:prstGeom>
          <a:solidFill>
            <a:srgbClr val="D8DDDA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74875"/>
            <a:ext cx="32918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800" b="0">
                <a:solidFill>
                  <a:srgbClr val="637078"/>
                </a:solidFill>
                <a:latin typeface="Aptos"/>
              </a:defRPr>
            </a:pPr>
            <a:r>
              <a:t>60k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1872" y="5443059"/>
            <a:ext cx="530352" cy="89060"/>
          </a:xfrm>
          <a:prstGeom prst="round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20239" y="5082851"/>
            <a:ext cx="530352" cy="449268"/>
          </a:xfrm>
          <a:prstGeom prst="roundRect">
            <a:avLst/>
          </a:prstGeom>
          <a:solidFill>
            <a:srgbClr val="4C78A8"/>
          </a:solidFill>
          <a:ln w="10160">
            <a:solidFill>
              <a:srgbClr val="4C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1" y="5669280"/>
            <a:ext cx="1371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1">
                <a:solidFill>
                  <a:srgbClr val="1D252C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5168739"/>
            <a:ext cx="7498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087E8B"/>
                </a:solidFill>
                <a:latin typeface="Aptos"/>
              </a:defRPr>
            </a:pPr>
            <a:r>
              <a:t>1,550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9655" y="4808531"/>
            <a:ext cx="7498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4C78A8"/>
                </a:solidFill>
                <a:latin typeface="Aptos"/>
              </a:defRPr>
            </a:pPr>
            <a:r>
              <a:t>7,819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90672" y="5266546"/>
            <a:ext cx="530352" cy="265573"/>
          </a:xfrm>
          <a:prstGeom prst="round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49039" y="4902718"/>
            <a:ext cx="530352" cy="629401"/>
          </a:xfrm>
          <a:prstGeom prst="roundRect">
            <a:avLst/>
          </a:prstGeom>
          <a:solidFill>
            <a:srgbClr val="4C78A8"/>
          </a:solidFill>
          <a:ln w="10160">
            <a:solidFill>
              <a:srgbClr val="4C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9232" y="5669280"/>
            <a:ext cx="1371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1">
                <a:solidFill>
                  <a:srgbClr val="1D252C"/>
                </a:solidFill>
                <a:latin typeface="Aptos"/>
              </a:defRPr>
            </a:pPr>
            <a:r>
              <a:t>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9503" y="4992226"/>
            <a:ext cx="7498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087E8B"/>
                </a:solidFill>
                <a:latin typeface="Aptos"/>
              </a:defRPr>
            </a:pPr>
            <a:r>
              <a:t>4,622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8456" y="4628398"/>
            <a:ext cx="7498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4C78A8"/>
                </a:solidFill>
                <a:latin typeface="Aptos"/>
              </a:defRPr>
            </a:pPr>
            <a:r>
              <a:t>10,954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19472" y="4560495"/>
            <a:ext cx="530352" cy="971624"/>
          </a:xfrm>
          <a:prstGeom prst="round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577840" y="4192012"/>
            <a:ext cx="530352" cy="1340107"/>
          </a:xfrm>
          <a:prstGeom prst="roundRect">
            <a:avLst/>
          </a:prstGeom>
          <a:solidFill>
            <a:srgbClr val="4C78A8"/>
          </a:solidFill>
          <a:ln w="10160">
            <a:solidFill>
              <a:srgbClr val="4C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5669280"/>
            <a:ext cx="1371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1">
                <a:solidFill>
                  <a:srgbClr val="1D252C"/>
                </a:solidFill>
                <a:latin typeface="Aptos"/>
              </a:defRPr>
            </a:pPr>
            <a:r>
              <a:t>256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18304" y="4286175"/>
            <a:ext cx="7498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087E8B"/>
                </a:solidFill>
                <a:latin typeface="Aptos"/>
              </a:defRPr>
            </a:pPr>
            <a:r>
              <a:t>16,910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77256" y="3917692"/>
            <a:ext cx="7498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4C78A8"/>
                </a:solidFill>
                <a:latin typeface="Aptos"/>
              </a:defRPr>
            </a:pPr>
            <a:r>
              <a:t>23,323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48272" y="1736289"/>
            <a:ext cx="530352" cy="3795830"/>
          </a:xfrm>
          <a:prstGeom prst="round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06640" y="1371600"/>
            <a:ext cx="530352" cy="4160520"/>
          </a:xfrm>
          <a:prstGeom prst="roundRect">
            <a:avLst/>
          </a:prstGeom>
          <a:solidFill>
            <a:srgbClr val="4C78A8"/>
          </a:solidFill>
          <a:ln w="10160">
            <a:solidFill>
              <a:srgbClr val="4C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6832" y="5669280"/>
            <a:ext cx="1371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950" b="1">
                <a:solidFill>
                  <a:srgbClr val="1D252C"/>
                </a:solidFill>
                <a:latin typeface="Aptos"/>
              </a:defRPr>
            </a:pPr>
            <a:r>
              <a:t>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4" y="1461969"/>
            <a:ext cx="7498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087E8B"/>
                </a:solidFill>
                <a:latin typeface="Aptos"/>
              </a:defRPr>
            </a:pPr>
            <a:r>
              <a:t>66,062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06056" y="1097280"/>
            <a:ext cx="7498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800" b="1">
                <a:solidFill>
                  <a:srgbClr val="4C78A8"/>
                </a:solidFill>
                <a:latin typeface="Aptos"/>
              </a:defRPr>
            </a:pPr>
            <a:r>
              <a:t>72,409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1874519"/>
            <a:ext cx="219456" cy="219456"/>
          </a:xfrm>
          <a:prstGeom prst="round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09176" y="1847088"/>
            <a:ext cx="19202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1D252C"/>
                </a:solidFill>
                <a:latin typeface="Aptos"/>
              </a:defRPr>
            </a:pPr>
            <a:r>
              <a:t>Accelerator observed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8280" y="2359152"/>
            <a:ext cx="219456" cy="219456"/>
          </a:xfrm>
          <a:prstGeom prst="roundRect">
            <a:avLst/>
          </a:prstGeom>
          <a:solidFill>
            <a:srgbClr val="4C78A8"/>
          </a:solidFill>
          <a:ln w="10160">
            <a:solidFill>
              <a:srgbClr val="4C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09176" y="2331720"/>
            <a:ext cx="19202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1D252C"/>
                </a:solidFill>
                <a:latin typeface="Aptos"/>
              </a:defRPr>
            </a:pPr>
            <a:r>
              <a:t>Clean kernel window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69680" y="3063240"/>
            <a:ext cx="2395728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69680" y="3063240"/>
            <a:ext cx="64008" cy="1207008"/>
          </a:xfrm>
          <a:prstGeom prst="rect">
            <a:avLst/>
          </a:prstGeom>
          <a:solidFill>
            <a:srgbClr val="C6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34272" y="3172968"/>
            <a:ext cx="21031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D252C"/>
                </a:solidFill>
                <a:latin typeface="Noto Sans CJK SC"/>
              </a:defRPr>
            </a:pPr>
            <a:r>
              <a:t>稳态斜率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34272" y="3538728"/>
            <a:ext cx="21031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637078"/>
                </a:solidFill>
                <a:latin typeface="Noto Sans CJK SC"/>
              </a:defRPr>
            </a:pPr>
            <a:r>
              <a:t>每增加16行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637078"/>
                </a:solidFill>
                <a:latin typeface="Noto Sans CJK SC"/>
              </a:defRPr>
            </a:pPr>
            <a:r>
              <a:t>约 +1,024 cycles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69680" y="4553712"/>
            <a:ext cx="2395728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69680" y="4553712"/>
            <a:ext cx="64008" cy="932688"/>
          </a:xfrm>
          <a:prstGeom prst="rect">
            <a:avLst/>
          </a:prstGeom>
          <a:solidFill>
            <a:srgbClr val="3D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34272" y="4663440"/>
            <a:ext cx="21031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D252C"/>
                </a:solidFill>
                <a:latin typeface="Noto Sans CJK SC"/>
              </a:defRPr>
            </a:pPr>
            <a:r>
              <a:t>Contract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34272" y="5029200"/>
            <a:ext cx="21031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637078"/>
                </a:solidFill>
                <a:latin typeface="Noto Sans CJK SC"/>
              </a:defRPr>
            </a:pPr>
            <a:r>
              <a:t>4 shapes 全部 PASS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6291072"/>
            <a:ext cx="11155680" cy="365760"/>
          </a:xfrm>
          <a:prstGeom prst="roundRect">
            <a:avLst/>
          </a:prstGeom>
          <a:solidFill>
            <a:srgbClr val="E9ECE9"/>
          </a:solidFill>
          <a:ln w="10160">
            <a:solidFill>
              <a:srgbClr val="E9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6345936"/>
            <a:ext cx="108356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1D252C"/>
                </a:solidFill>
                <a:latin typeface="Noto Sans CJK SC"/>
              </a:defRPr>
            </a:pPr>
            <a:r>
              <a:t>Scaling曲线符合四上下文流水模型，没有出现1024点的非线性恶化。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6675120"/>
            <a:ext cx="1088136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720" b="0">
                <a:solidFill>
                  <a:srgbClr val="637078"/>
                </a:solidFill>
                <a:latin typeface="Aptos"/>
              </a:defRPr>
            </a:pPr>
            <a:r>
              <a:t>Fresh fixed-parameter runs: 16/64/256/1024 × 4096, 2026-07-21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539728" y="6675120"/>
            <a:ext cx="109728" cy="2743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850" b="1">
                <a:solidFill>
                  <a:srgbClr val="087E8B"/>
                </a:solidFill>
                <a:latin typeface="Aptos"/>
              </a:defRPr>
            </a:pPr>
            <a:r>
              <a:t>GPU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1D252C"/>
                </a:solidFill>
                <a:latin typeface="Noto Sans CJK SC"/>
              </a:defRPr>
            </a:pPr>
            <a:r>
              <a:t>与GPU比较只能作为量级参考，必须统一测量边界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47472"/>
            <a:ext cx="411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637078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627632"/>
            <a:ext cx="7955279" cy="438912"/>
          </a:xfrm>
          <a:prstGeom prst="roundRect">
            <a:avLst/>
          </a:prstGeom>
          <a:solidFill>
            <a:srgbClr val="E5E8E6"/>
          </a:solidFill>
          <a:ln w="10160">
            <a:solidFill>
              <a:srgbClr val="E5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627632"/>
            <a:ext cx="2527724" cy="438912"/>
          </a:xfrm>
          <a:prstGeom prst="round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53312"/>
            <a:ext cx="461406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1D252C"/>
                </a:solidFill>
                <a:latin typeface="Noto Sans CJK SC"/>
              </a:defRPr>
            </a:pPr>
            <a:r>
              <a:t>Golem accelerator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2742" y="1353312"/>
            <a:ext cx="3341217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1050" b="1">
                <a:solidFill>
                  <a:srgbClr val="087E8B"/>
                </a:solidFill>
                <a:latin typeface="Aptos"/>
              </a:defRPr>
            </a:pPr>
            <a:r>
              <a:t>66,062 cycles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615184"/>
            <a:ext cx="7955279" cy="438912"/>
          </a:xfrm>
          <a:prstGeom prst="roundRect">
            <a:avLst/>
          </a:prstGeom>
          <a:solidFill>
            <a:srgbClr val="E5E8E6"/>
          </a:solidFill>
          <a:ln w="10160">
            <a:solidFill>
              <a:srgbClr val="E5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615184"/>
            <a:ext cx="2770579" cy="438912"/>
          </a:xfrm>
          <a:prstGeom prst="roundRect">
            <a:avLst/>
          </a:prstGeom>
          <a:solidFill>
            <a:srgbClr val="4C78A8"/>
          </a:solidFill>
          <a:ln w="10160">
            <a:solidFill>
              <a:srgbClr val="4C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40864"/>
            <a:ext cx="461406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1D252C"/>
                </a:solidFill>
                <a:latin typeface="Noto Sans CJK SC"/>
              </a:defRPr>
            </a:pPr>
            <a:r>
              <a:t>Golem clean kernel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2742" y="2340864"/>
            <a:ext cx="3341217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1050" b="1">
                <a:solidFill>
                  <a:srgbClr val="4C78A8"/>
                </a:solidFill>
                <a:latin typeface="Aptos"/>
              </a:defRPr>
            </a:pPr>
            <a:r>
              <a:t>72,409 cycles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602736"/>
            <a:ext cx="7955279" cy="438912"/>
          </a:xfrm>
          <a:prstGeom prst="roundRect">
            <a:avLst/>
          </a:prstGeom>
          <a:solidFill>
            <a:srgbClr val="E5E8E6"/>
          </a:solidFill>
          <a:ln w="10160">
            <a:solidFill>
              <a:srgbClr val="E5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3602736"/>
            <a:ext cx="4427707" cy="438912"/>
          </a:xfrm>
          <a:prstGeom prst="roundRect">
            <a:avLst/>
          </a:prstGeom>
          <a:solidFill>
            <a:srgbClr val="3D8B66"/>
          </a:solidFill>
          <a:ln w="10160">
            <a:solidFill>
              <a:srgbClr val="3D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328416"/>
            <a:ext cx="461406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1D252C"/>
                </a:solidFill>
                <a:latin typeface="Noto Sans CJK SC"/>
              </a:defRPr>
            </a:pPr>
            <a:r>
              <a:t>TileLang p50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2742" y="3328416"/>
            <a:ext cx="3341217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1050" b="1">
                <a:solidFill>
                  <a:srgbClr val="3D8B66"/>
                </a:solidFill>
                <a:latin typeface="Aptos"/>
              </a:defRPr>
            </a:pPr>
            <a:r>
              <a:t>115,718 cycles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590288"/>
            <a:ext cx="7955279" cy="438912"/>
          </a:xfrm>
          <a:prstGeom prst="roundRect">
            <a:avLst/>
          </a:prstGeom>
          <a:solidFill>
            <a:srgbClr val="E5E8E6"/>
          </a:solidFill>
          <a:ln w="10160">
            <a:solidFill>
              <a:srgbClr val="E5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4590288"/>
            <a:ext cx="7955279" cy="438912"/>
          </a:xfrm>
          <a:prstGeom prst="roundRect">
            <a:avLst/>
          </a:prstGeom>
          <a:solidFill>
            <a:srgbClr val="D99A22"/>
          </a:solidFill>
          <a:ln w="10160">
            <a:solidFill>
              <a:srgbClr val="D9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15968"/>
            <a:ext cx="461406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1D252C"/>
                </a:solidFill>
                <a:latin typeface="Noto Sans CJK SC"/>
              </a:defRPr>
            </a:pPr>
            <a:r>
              <a:t>PyTorch p50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2742" y="4315968"/>
            <a:ext cx="3341217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1050" b="1">
                <a:solidFill>
                  <a:srgbClr val="D99A22"/>
                </a:solidFill>
                <a:latin typeface="Aptos"/>
              </a:defRPr>
            </a:pPr>
            <a:r>
              <a:t>207,911 cycles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8" y="1389888"/>
            <a:ext cx="22402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62288" y="1389888"/>
            <a:ext cx="64008" cy="109728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1499616"/>
            <a:ext cx="19476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D252C"/>
                </a:solidFill>
                <a:latin typeface="Noto Sans CJK SC"/>
              </a:defRPr>
            </a:pPr>
            <a:r>
              <a:t>同一shape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1865376"/>
            <a:ext cx="194767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637078"/>
                </a:solidFill>
                <a:latin typeface="Noto Sans CJK SC"/>
              </a:defRPr>
            </a:pPr>
            <a:r>
              <a:t>1024 × 4096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637078"/>
                </a:solidFill>
                <a:latin typeface="Noto Sans CJK SC"/>
              </a:defRPr>
            </a:pPr>
            <a:r>
              <a:t>row-wise Softmax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62288" y="2788920"/>
            <a:ext cx="22402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62288" y="2788920"/>
            <a:ext cx="64008" cy="1417320"/>
          </a:xfrm>
          <a:prstGeom prst="rect">
            <a:avLst/>
          </a:prstGeom>
          <a:solidFill>
            <a:srgbClr val="C6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2898648"/>
            <a:ext cx="19476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D252C"/>
                </a:solidFill>
                <a:latin typeface="Noto Sans CJK SC"/>
              </a:defRPr>
            </a:pPr>
            <a:r>
              <a:t>不同口径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264408"/>
            <a:ext cx="1947672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637078"/>
                </a:solidFill>
                <a:latin typeface="Noto Sans CJK SC"/>
              </a:defRPr>
            </a:pPr>
            <a:r>
              <a:t>GPU：nominal SM clock估算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637078"/>
                </a:solidFill>
                <a:latin typeface="Noto Sans CJK SC"/>
              </a:defRPr>
            </a:pPr>
            <a:r>
              <a:t>Golem：SST/rdcycle事件边界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62288" y="4517136"/>
            <a:ext cx="224028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62288" y="4517136"/>
            <a:ext cx="64008" cy="1060704"/>
          </a:xfrm>
          <a:prstGeom prst="rect">
            <a:avLst/>
          </a:prstGeom>
          <a:solidFill>
            <a:srgbClr val="D9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4626864"/>
            <a:ext cx="19476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D252C"/>
                </a:solidFill>
                <a:latin typeface="Noto Sans CJK SC"/>
              </a:defRPr>
            </a:pPr>
            <a:r>
              <a:t>不宣称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992624"/>
            <a:ext cx="1947672" cy="49377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637078"/>
                </a:solidFill>
                <a:latin typeface="Noto Sans CJK SC"/>
              </a:defRPr>
            </a:pPr>
            <a:r>
              <a:t>cycle更少 ≠ 硬件更快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6291072"/>
            <a:ext cx="11155680" cy="365760"/>
          </a:xfrm>
          <a:prstGeom prst="roundRect">
            <a:avLst/>
          </a:prstGeom>
          <a:solidFill>
            <a:srgbClr val="F7ECD1"/>
          </a:solidFill>
          <a:ln w="10160">
            <a:solidFill>
              <a:srgbClr val="F7E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6345936"/>
            <a:ext cx="108356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1D252C"/>
                </a:solidFill>
                <a:latin typeface="Noto Sans CJK SC"/>
              </a:defRPr>
            </a:pPr>
            <a:r>
              <a:t>当前结果说明模型已进入GPU量级；公平比较仍需频率、吞吐、面积和精度共同约束。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6675120"/>
            <a:ext cx="1088136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720" b="0">
                <a:solidFill>
                  <a:srgbClr val="637078"/>
                </a:solidFill>
                <a:latin typeface="Aptos"/>
              </a:defRPr>
            </a:pPr>
            <a:r>
              <a:t>GPU values supplied from 1024×4096 measurements; cycles estimated from nominal SM clock.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539728" y="6675120"/>
            <a:ext cx="109728" cy="2743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850" b="1">
                <a:solidFill>
                  <a:srgbClr val="087E8B"/>
                </a:solidFill>
                <a:latin typeface="Aptos"/>
              </a:defRPr>
            </a:pPr>
            <a:r>
              <a:t>BOTTLENECK &amp;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1D252C"/>
                </a:solidFill>
                <a:latin typeface="Noto Sans CJK SC"/>
              </a:defRPr>
            </a:pPr>
            <a:r>
              <a:t>下一步应扩展EXP吞吐，而不是继续提高NoC带宽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47472"/>
            <a:ext cx="411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637078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4937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D252C"/>
                </a:solidFill>
                <a:latin typeface="Noto Sans CJK SC"/>
              </a:defRPr>
            </a:pPr>
            <a:r>
              <a:t>当前1024×4096 stage active cycles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4892040" cy="402336"/>
          </a:xfrm>
          <a:prstGeom prst="roundRect">
            <a:avLst/>
          </a:prstGeom>
          <a:solidFill>
            <a:srgbClr val="E5E8E6"/>
          </a:solidFill>
          <a:ln w="10160">
            <a:solidFill>
              <a:srgbClr val="E5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1223010" cy="402336"/>
          </a:xfrm>
          <a:prstGeom prst="roundRect">
            <a:avLst/>
          </a:prstGeom>
          <a:solidFill>
            <a:srgbClr val="087E8B"/>
          </a:solidFill>
          <a:ln w="1016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199"/>
            <a:ext cx="2837383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1D252C"/>
                </a:solidFill>
                <a:latin typeface="Noto Sans CJK SC"/>
              </a:defRPr>
            </a:pPr>
            <a:r>
              <a:t>MAX · 16 lanes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3183" y="1600199"/>
            <a:ext cx="20546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1050" b="1">
                <a:solidFill>
                  <a:srgbClr val="087E8B"/>
                </a:solidFill>
                <a:latin typeface="Aptos"/>
              </a:defRPr>
            </a:pPr>
            <a:r>
              <a:t>16,384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52928"/>
            <a:ext cx="4892040" cy="402336"/>
          </a:xfrm>
          <a:prstGeom prst="roundRect">
            <a:avLst/>
          </a:prstGeom>
          <a:solidFill>
            <a:srgbClr val="E5E8E6"/>
          </a:solidFill>
          <a:ln w="10160">
            <a:solidFill>
              <a:srgbClr val="E5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2852928"/>
            <a:ext cx="4892040" cy="402336"/>
          </a:xfrm>
          <a:prstGeom prst="roundRect">
            <a:avLst/>
          </a:prstGeom>
          <a:solidFill>
            <a:srgbClr val="C6423E"/>
          </a:solidFill>
          <a:ln w="10160">
            <a:solidFill>
              <a:srgbClr val="C6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78608"/>
            <a:ext cx="2837383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1D252C"/>
                </a:solidFill>
                <a:latin typeface="Noto Sans CJK SC"/>
              </a:defRPr>
            </a:pPr>
            <a:r>
              <a:t>EXP + SUM · 4 lanes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3183" y="2578608"/>
            <a:ext cx="20546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1050" b="1">
                <a:solidFill>
                  <a:srgbClr val="C6423E"/>
                </a:solidFill>
                <a:latin typeface="Aptos"/>
              </a:defRPr>
            </a:pPr>
            <a:r>
              <a:t>65,536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831336"/>
            <a:ext cx="4892040" cy="402336"/>
          </a:xfrm>
          <a:prstGeom prst="roundRect">
            <a:avLst/>
          </a:prstGeom>
          <a:solidFill>
            <a:srgbClr val="E5E8E6"/>
          </a:solidFill>
          <a:ln w="10160">
            <a:solidFill>
              <a:srgbClr val="E5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831336"/>
            <a:ext cx="1223010" cy="402336"/>
          </a:xfrm>
          <a:prstGeom prst="roundRect">
            <a:avLst/>
          </a:prstGeom>
          <a:solidFill>
            <a:srgbClr val="3D8B66"/>
          </a:solidFill>
          <a:ln w="10160">
            <a:solidFill>
              <a:srgbClr val="3D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57016"/>
            <a:ext cx="2837383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1D252C"/>
                </a:solidFill>
                <a:latin typeface="Noto Sans CJK SC"/>
              </a:defRPr>
            </a:pPr>
            <a:r>
              <a:t>Normalize · 16 lanes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3183" y="3557016"/>
            <a:ext cx="20546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1050" b="1">
                <a:solidFill>
                  <a:srgbClr val="3D8B66"/>
                </a:solidFill>
                <a:latin typeface="Aptos"/>
              </a:defRPr>
            </a:pPr>
            <a:r>
              <a:t>16,384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800600"/>
            <a:ext cx="2011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087E8B"/>
                </a:solidFill>
                <a:latin typeface="Aptos"/>
              </a:defRPr>
            </a:pPr>
            <a:r>
              <a:t>32,256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248656"/>
            <a:ext cx="2011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637078"/>
                </a:solidFill>
                <a:latin typeface="Noto Sans CJK SC"/>
              </a:defRPr>
            </a:pPr>
            <a:r>
              <a:t>overlapped cycles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800600"/>
            <a:ext cx="2011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500" b="1">
                <a:solidFill>
                  <a:srgbClr val="C6423E"/>
                </a:solidFill>
                <a:latin typeface="Aptos"/>
              </a:defRPr>
            </a:pPr>
            <a:r>
              <a:t>66,048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5248656"/>
            <a:ext cx="2011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637078"/>
                </a:solidFill>
                <a:latin typeface="Noto Sans CJK SC"/>
              </a:defRPr>
            </a:pPr>
            <a:r>
              <a:t>temporal span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371600"/>
            <a:ext cx="5074920" cy="987552"/>
          </a:xfrm>
          <a:prstGeom prst="roundRect">
            <a:avLst/>
          </a:prstGeom>
          <a:solidFill>
            <a:srgbClr val="F5E3E1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371600"/>
            <a:ext cx="64008" cy="987552"/>
          </a:xfrm>
          <a:prstGeom prst="rect">
            <a:avLst/>
          </a:prstGeom>
          <a:solidFill>
            <a:srgbClr val="C6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1481328"/>
            <a:ext cx="47823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1D252C"/>
                </a:solidFill>
                <a:latin typeface="Noto Sans CJK SC"/>
              </a:defRPr>
            </a:pPr>
            <a:r>
              <a:t>1 · 16-result/cycle EXP2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1847088"/>
            <a:ext cx="4782312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637078"/>
                </a:solidFill>
                <a:latin typeface="Noto Sans CJK SC"/>
              </a:defRPr>
            </a:pPr>
            <a:r>
              <a:t>fast exp2 + explicit latency / initiation interval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2606040"/>
            <a:ext cx="5074920" cy="987552"/>
          </a:xfrm>
          <a:prstGeom prst="roundRect">
            <a:avLst/>
          </a:prstGeom>
          <a:solidFill>
            <a:srgbClr val="DDEFF0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2606040"/>
            <a:ext cx="64008" cy="98755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2715768"/>
            <a:ext cx="47823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1D252C"/>
                </a:solidFill>
                <a:latin typeface="Noto Sans CJK SC"/>
              </a:defRPr>
            </a:pPr>
            <a:r>
              <a:t>2 · 专用vector reduction datapath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3081528"/>
            <a:ext cx="4782312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637078"/>
                </a:solidFill>
                <a:latin typeface="Noto Sans CJK SC"/>
              </a:defRPr>
            </a:pPr>
            <a:r>
              <a:t>MAX/SUM使用ALU与cross-lane tree，不占用EXP资源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840480"/>
            <a:ext cx="5074920" cy="987552"/>
          </a:xfrm>
          <a:prstGeom prst="roundRect">
            <a:avLst/>
          </a:prstGeom>
          <a:solidFill>
            <a:srgbClr val="F7ECD1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3840480"/>
            <a:ext cx="64008" cy="987552"/>
          </a:xfrm>
          <a:prstGeom prst="rect">
            <a:avLst/>
          </a:prstGeom>
          <a:solidFill>
            <a:srgbClr val="D9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792" y="3950208"/>
            <a:ext cx="47823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1D252C"/>
                </a:solidFill>
                <a:latin typeface="Noto Sans CJK SC"/>
              </a:defRPr>
            </a:pPr>
            <a:r>
              <a:t>3 · Streaming normalize → DMA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4315968"/>
            <a:ext cx="4782312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637078"/>
                </a:solidFill>
                <a:latin typeface="Noto Sans CJK SC"/>
              </a:defRPr>
            </a:pPr>
            <a:r>
              <a:t>计算目标约16.9k后，17.6k DMA路径将成为下一瓶颈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5266944"/>
            <a:ext cx="43159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3D8B66"/>
                </a:solidFill>
                <a:latin typeface="Aptos"/>
              </a:defRPr>
            </a:pPr>
            <a:r>
              <a:t>预计 modeled compute：66.1k → 16.9k cycles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291072"/>
            <a:ext cx="11155680" cy="365760"/>
          </a:xfrm>
          <a:prstGeom prst="roundRect">
            <a:avLst/>
          </a:prstGeom>
          <a:solidFill>
            <a:srgbClr val="E9ECE9"/>
          </a:solidFill>
          <a:ln w="10160">
            <a:solidFill>
              <a:srgbClr val="E9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45936"/>
            <a:ext cx="108356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1D252C"/>
                </a:solidFill>
                <a:latin typeface="Noto Sans CJK SC"/>
              </a:defRPr>
            </a:pPr>
            <a:r>
              <a:t>目标不是复制GPU SM，而是采用GPU-like分层并行构建平衡的Softmax专用数据通路。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6675120"/>
            <a:ext cx="1088136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720" b="0">
                <a:solidFill>
                  <a:srgbClr val="637078"/>
                </a:solidFill>
                <a:latin typeface="Aptos"/>
              </a:defRPr>
            </a:pPr>
            <a:r>
              <a:t>16.9k is a model estimate for exp_lanes=16, not a measured result.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539728" y="6675120"/>
            <a:ext cx="109728" cy="2743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850" b="1">
                <a:solidFill>
                  <a:srgbClr val="087E8B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1D252C"/>
                </a:solidFill>
                <a:latin typeface="Noto Sans CJK SC"/>
              </a:defRPr>
            </a:pPr>
            <a:r>
              <a:t>本阶段完成了从“通信驱动”到“行级流水驱动”的架构转变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47472"/>
            <a:ext cx="411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637078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8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481328"/>
            <a:ext cx="2423160" cy="2157984"/>
          </a:xfrm>
          <a:prstGeom prst="roundRect">
            <a:avLst/>
          </a:prstGeom>
          <a:solidFill>
            <a:srgbClr val="DDEFF0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746504"/>
            <a:ext cx="20939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087E8B"/>
                </a:solidFill>
                <a:latin typeface="Noto Sans CJK SC"/>
              </a:defRPr>
            </a:pPr>
            <a:r>
              <a:t>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95728"/>
            <a:ext cx="2093976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D252C"/>
                </a:solidFill>
                <a:latin typeface="Aptos"/>
              </a:defRPr>
            </a:pPr>
            <a:r>
              <a:t>1 tensor job</a:t>
            </a:r>
          </a:p>
          <a:p>
            <a:pPr algn="ctr">
              <a:lnSpc>
                <a:spcPct val="100000"/>
              </a:lnSpc>
              <a:defRPr sz="1150" b="0">
                <a:solidFill>
                  <a:srgbClr val="1D252C"/>
                </a:solidFill>
                <a:latin typeface="Aptos"/>
              </a:defRPr>
            </a:pPr>
            <a:r>
              <a:t>16 Row Engines</a:t>
            </a:r>
          </a:p>
          <a:p>
            <a:pPr algn="ctr">
              <a:lnSpc>
                <a:spcPct val="100000"/>
              </a:lnSpc>
              <a:defRPr sz="1150" b="0">
                <a:solidFill>
                  <a:srgbClr val="1D252C"/>
                </a:solidFill>
                <a:latin typeface="Aptos"/>
              </a:defRPr>
            </a:pPr>
            <a:r>
              <a:t>4-context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81328"/>
            <a:ext cx="2423160" cy="2157984"/>
          </a:xfrm>
          <a:prstGeom prst="roundRect">
            <a:avLst/>
          </a:prstGeom>
          <a:solidFill>
            <a:srgbClr val="E4ECF5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746504"/>
            <a:ext cx="20939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4C78A8"/>
                </a:solidFill>
                <a:latin typeface="Noto Sans CJK SC"/>
              </a:defRPr>
            </a:pPr>
            <a:r>
              <a:t>数据流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395728"/>
            <a:ext cx="2093976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D252C"/>
                </a:solidFill>
                <a:latin typeface="Aptos"/>
              </a:defRPr>
            </a:pPr>
            <a:r>
              <a:t>1 input + 1 output</a:t>
            </a:r>
          </a:p>
          <a:p>
            <a:pPr algn="ctr">
              <a:lnSpc>
                <a:spcPct val="100000"/>
              </a:lnSpc>
              <a:defRPr sz="1150" b="0">
                <a:solidFill>
                  <a:srgbClr val="1D252C"/>
                </a:solidFill>
                <a:latin typeface="Aptos"/>
              </a:defRPr>
            </a:pPr>
            <a:r>
              <a:t>0 reduction messages</a:t>
            </a:r>
          </a:p>
          <a:p>
            <a:pPr algn="ctr">
              <a:lnSpc>
                <a:spcPct val="100000"/>
              </a:lnSpc>
              <a:defRPr sz="1150" b="0">
                <a:solidFill>
                  <a:srgbClr val="1D252C"/>
                </a:solidFill>
                <a:latin typeface="Aptos"/>
              </a:defRPr>
            </a:pPr>
            <a:r>
              <a:t>64 DMA pairs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1481328"/>
            <a:ext cx="2423160" cy="2157984"/>
          </a:xfrm>
          <a:prstGeom prst="roundRect">
            <a:avLst/>
          </a:prstGeom>
          <a:solidFill>
            <a:srgbClr val="E2F0E9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46504"/>
            <a:ext cx="20939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3D8B66"/>
                </a:solidFill>
                <a:latin typeface="Noto Sans CJK SC"/>
              </a:defRPr>
            </a:pPr>
            <a:r>
              <a:t>正确性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95728"/>
            <a:ext cx="2093976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D252C"/>
                </a:solidFill>
                <a:latin typeface="Aptos"/>
              </a:defRPr>
            </a:pPr>
            <a:r>
              <a:t>4,194,304 checked</a:t>
            </a:r>
          </a:p>
          <a:p>
            <a:pPr algn="ctr">
              <a:lnSpc>
                <a:spcPct val="100000"/>
              </a:lnSpc>
              <a:defRPr sz="1150" b="0">
                <a:solidFill>
                  <a:srgbClr val="1D252C"/>
                </a:solidFill>
                <a:latin typeface="Aptos"/>
              </a:defRPr>
            </a:pPr>
            <a:r>
              <a:t>0 mismatch</a:t>
            </a:r>
          </a:p>
          <a:p>
            <a:pPr algn="ctr">
              <a:lnSpc>
                <a:spcPct val="100000"/>
              </a:lnSpc>
              <a:defRPr sz="1150" b="0">
                <a:solidFill>
                  <a:srgbClr val="1D252C"/>
                </a:solidFill>
                <a:latin typeface="Aptos"/>
              </a:defRPr>
            </a:pPr>
            <a:r>
              <a:t>strict lifecycle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0576" y="1481328"/>
            <a:ext cx="2423160" cy="2157984"/>
          </a:xfrm>
          <a:prstGeom prst="roundRect">
            <a:avLst/>
          </a:prstGeom>
          <a:solidFill>
            <a:srgbClr val="F5E3E1"/>
          </a:solidFill>
          <a:ln w="10160">
            <a:solidFill>
              <a:srgbClr val="D8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45167" y="1746504"/>
            <a:ext cx="20939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C6423E"/>
                </a:solidFill>
                <a:latin typeface="Noto Sans CJK SC"/>
              </a:defRPr>
            </a:pPr>
            <a:r>
              <a:t>性能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5167" y="2395728"/>
            <a:ext cx="2093976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D252C"/>
                </a:solidFill>
                <a:latin typeface="Aptos"/>
              </a:defRPr>
            </a:pPr>
            <a:r>
              <a:t>66,062 accelerator</a:t>
            </a:r>
          </a:p>
          <a:p>
            <a:pPr algn="ctr">
              <a:lnSpc>
                <a:spcPct val="100000"/>
              </a:lnSpc>
              <a:defRPr sz="1150" b="0">
                <a:solidFill>
                  <a:srgbClr val="1D252C"/>
                </a:solidFill>
                <a:latin typeface="Aptos"/>
              </a:defRPr>
            </a:pPr>
            <a:r>
              <a:t>72,409 clean kernel</a:t>
            </a:r>
          </a:p>
          <a:p>
            <a:pPr algn="ctr">
              <a:lnSpc>
                <a:spcPct val="100000"/>
              </a:lnSpc>
              <a:defRPr sz="1150" b="0">
                <a:solidFill>
                  <a:srgbClr val="1D252C"/>
                </a:solidFill>
                <a:latin typeface="Aptos"/>
              </a:defRPr>
            </a:pPr>
            <a:r>
              <a:t>27.8× system 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279392"/>
            <a:ext cx="1019556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1D252C"/>
                </a:solidFill>
                <a:latin typeface="Noto Sans CJK SC"/>
              </a:defRPr>
            </a:pPr>
            <a:r>
              <a:t>当前结论：NoC/DMA已被隐藏，4-lane EXP吞吐决定66k-cycle关键路径。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65960" y="5074920"/>
            <a:ext cx="8275320" cy="713232"/>
          </a:xfrm>
          <a:prstGeom prst="roundRect">
            <a:avLst/>
          </a:prstGeom>
          <a:solidFill>
            <a:srgbClr val="1D252C"/>
          </a:solidFill>
          <a:ln w="10160">
            <a:solidFill>
              <a:srgbClr val="1D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66944"/>
            <a:ext cx="7909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Aptos"/>
              </a:defRPr>
            </a:pPr>
            <a:r>
              <a:t>下一阶段验收：modeled ≤ 17k · observed ≤ 18k · golden/lifecycle不变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6291072"/>
            <a:ext cx="11155680" cy="365760"/>
          </a:xfrm>
          <a:prstGeom prst="roundRect">
            <a:avLst/>
          </a:prstGeom>
          <a:solidFill>
            <a:srgbClr val="E4ECE7"/>
          </a:solidFill>
          <a:ln w="10160">
            <a:solidFill>
              <a:srgbClr val="E4E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345936"/>
            <a:ext cx="108356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1D252C"/>
                </a:solidFill>
                <a:latin typeface="Noto Sans CJK SC"/>
              </a:defRPr>
            </a:pPr>
            <a:r>
              <a:t>汇报重点：我们不仅获得了更少的cycle，也建立了可解释、可验证、可继续优化的模型。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539728" y="6675120"/>
            <a:ext cx="109728" cy="27432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